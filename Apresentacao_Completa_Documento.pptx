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00FB8D2-4C0B-4E0C-B000-800C32A0A30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Abertura. Avise que a apresentação acompanha a numeração do documento, para que possam anotar nas próprias cópias.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DA5AC7-25A6-4871-8C60-1FC7D738A19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Deixe claro que as seções 6 e 7 recebem mais tempo: são o núcleo técnico da proposta.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F723E4-5CF6-4F93-8285-B312709F384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Seção 1. As duas perguntas organizam todo o restante — as fases 3 e 4 existem para respondê-las. Vale registrar já aqui que planejamento não é só PPA: a LOA traz o mesmo programa detalhado para o exercício, e é dela que sai a dotação com que a liquidação será comparada.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77CBD2-233F-4621-B205-A19A175522D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Enfatize: o problema é estrutural, não é falha das equipes. Cada sistema foi desenhado para uma finalidade própria. Note que o planejamento já são duas leis — PPA e LOA — que precisam conversar entre si antes mesmo de conversar com a execução.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385B4B-D61A-4455-9ECD-F8AA1C0C85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Slide de orientação: volte a ele sempre que mudar de fase, para a plateia saber onde está.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579360-5B52-459C-8B9A-6DBA74DB4E9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 ponto da caixa é importante para o controle interno: dado e interpretação ficam separados e auditáveis.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15867B-169B-4AB6-91CE-25C94FD1A6E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Seção 4.1. Duas ideias para sustentar em voz alta: primeira, o mesmo programa aparece nos dois instrumentos, em horizontes diferentes — quatro anos no PPA, um ano na LOA; segunda, a conciliação entre eles é feita pelo código de programa e de ação, e a soma das quatro LOAs do ciclo deve fechar com o PPA. Divergência aqui invalida qualquer número das fases seguintes.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B9FEA9-76FF-44F0-8114-300108C496E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 regra de rastreabilidade é o que permite a um auditor refazer o caminho de qualquer número do painel.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27B65A-6E39-478D-86D6-7DE2D00B07D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Seção 5.1. A liquidação está destacada por dois motivos: é o marco do custo e é dela que sai a quantidade efetivamente entregue, registrada na nota fiscal ou no boletim de medição. Ela alimenta os dois cruzamentos da fase 3.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1F1B2A-BD41-47E5-A136-4A644131D7D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Este é o slide da escolha metodológica mais questionada. Reserve tempo. Se perguntarem sobre regime de competência, a resposta está aqui.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742868-1D4C-4A2A-A293-407BECA0AB4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Slide de transição e conceito. A ideia central: a liquidação não devolve só dinheiro — a nota fiscal e o boletim de medição registram quantidades. É de lá que sai o entregue que se confronta com a meta física. Anuncie que esta é a parte mais densa e que serão quatro slides.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829EC5-9374-4B95-8B55-2BEED35E2D9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Seção 6.1. O exemplo do combustível costuma ser o que faz a plateia entender por que não basta uma planilha.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90A78F-D80A-408C-851F-31D0471CD52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Seção 6.2. A advertência da caixa é essencial: sem ela, o indicador vira acusação, e a proposta perde apoio das áreas executoras.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2E6E05-9065-4FAD-B4B7-4184FC9DFAE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Percorra devagar, coluna por coluna. Se houver uma única coisa que a plateia precisa entender da fase 3, é este slide.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FFF65E-2733-4366-97CC-9ED70765288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Pergunta provável: quem define o rateio? Resposta: o órgão define a regra, o sistema aplica e registra. A máquina não escolhe sozinha.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BF214F-560A-4530-B4DD-51AEF037F09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Seção 6.3. Note que dois alertas apontam problema de dado, não de gestão — isso costuma tranquilizar as áreas.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56D7A8-BBA7-4060-9BBE-0425F20925A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Transição para a fase 4. Diga que aqui a saída da máquina é um texto argumentado, não um número — e que isso muda o modo de conferir.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403E38-41F0-4BF5-991A-E61D0A94FF9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Seção 7.1. Este é o slide que responde ao ceticismo sobre IA: a saída é verificável linha a linha.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73314E-DA94-42E2-95EE-694221E94F5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Sublinhe "inconclusivo": ter uma categoria para a dúvida evita que a máquina force conclusão onde não há base.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E4F960-CAF3-4615-9009-A0097B88078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Leia o parecer em voz alta. Ele mostra que a saída não é um carimbo: é um argumento que o gestor pode aceitar ou recusar.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715756-FF2E-4165-811C-138F00C1106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Seção 7.2. Se houver representante do controle interno na sala, este é o slide dele.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C293F8-9940-424E-ABF6-FD11F2F25EB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Seção 8. A camada 4 está destacada porque é onde vivem as duas análises que acabamos de detalhar.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04605D-3D31-463C-845D-BCFA297A03D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 houver protótipo disponível, este é o momento de mostrá-lo em vez de descrever.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0B88B1-36D7-4F97-9085-4F3539B606C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Seção 10. O último item é o mais importante politicamente: ninguém pode alegar que "o sistema decidiu".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EA97A3-797D-4E85-8339-D859337EF0A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Apresentar riscos abertamente costuma aumentar a confiança na proposta, não diminuir.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C769FB-E069-4C6D-964C-11A2ADD54C2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Seção 12. O caminho crítico quase sempre é o acesso às bases, não o desenvolvimento.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AF9D62-C2DD-44EB-9FFB-191FF11E9A0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Encerramento. Não termine sem responsável e data para cada decisão. Deixe este slide na tela durante as perguntas.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BCF085-3C72-4605-BDAC-520723DCFA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22960" y="1463040"/>
            <a:ext cx="456840" cy="456840"/>
          </a:xfrm>
          <a:prstGeom prst="roundRect">
            <a:avLst>
              <a:gd name="adj" fmla="val 100000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Text 1"/>
          <p:cNvSpPr/>
          <p:nvPr/>
        </p:nvSpPr>
        <p:spPr>
          <a:xfrm>
            <a:off x="1463040" y="15087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299" strike="noStrike">
                <a:solidFill>
                  <a:srgbClr val="9cc7c1"/>
                </a:solidFill>
                <a:latin typeface="Calibri"/>
                <a:ea typeface="Calibri"/>
              </a:rPr>
              <a:t>PROPOSTA DE SOLUÇÃO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822960" y="2194560"/>
            <a:ext cx="96008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5000"/>
              </a:lnSpc>
              <a:tabLst>
                <a:tab algn="l" pos="0"/>
              </a:tabLst>
            </a:pPr>
            <a:r>
              <a:rPr b="1" lang="pt-BR" sz="4200" spc="-1" strike="noStrike">
                <a:solidFill>
                  <a:srgbClr val="ffffff"/>
                </a:solidFill>
                <a:latin typeface="Cambria"/>
                <a:ea typeface="Cambria"/>
              </a:rPr>
              <a:t>Painel de Custos e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5000"/>
              </a:lnSpc>
              <a:tabLst>
                <a:tab algn="l" pos="0"/>
              </a:tabLst>
            </a:pPr>
            <a:r>
              <a:rPr b="1" lang="pt-BR" sz="4200" spc="-1" strike="noStrike">
                <a:solidFill>
                  <a:srgbClr val="ffffff"/>
                </a:solidFill>
                <a:latin typeface="Cambria"/>
                <a:ea typeface="Cambria"/>
              </a:rPr>
              <a:t>Aderência de Programas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40080" y="4114800"/>
            <a:ext cx="8595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b9c8d6"/>
                </a:solidFill>
                <a:latin typeface="Calibri"/>
                <a:ea typeface="Calibri"/>
              </a:rPr>
              <a:t>Integração entre planejamento, execução orçamentária e contratos, com inteligência artificial para apurar o custo de cada programa e verificar se os contratos servem à finalidade que os financia.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822960" y="5212080"/>
            <a:ext cx="7863480" cy="566640"/>
          </a:xfrm>
          <a:prstGeom prst="roundRect">
            <a:avLst>
              <a:gd name="adj" fmla="val 12903"/>
            </a:avLst>
          </a:prstGeom>
          <a:solidFill>
            <a:srgbClr val="17385a"/>
          </a:solidFill>
          <a:ln w="12700">
            <a:solidFill>
              <a:srgbClr val="2c54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Text 5"/>
          <p:cNvSpPr/>
          <p:nvPr/>
        </p:nvSpPr>
        <p:spPr>
          <a:xfrm>
            <a:off x="822960" y="5212080"/>
            <a:ext cx="7863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cbd9e6"/>
                </a:solidFill>
                <a:latin typeface="Calibri"/>
                <a:ea typeface="Calibri"/>
              </a:rPr>
              <a:t>Esta apresentação percorre o documento entregue, seção por seção.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ROTEIRO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640080" y="115200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O caminho desta apresentação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640080" y="1965960"/>
            <a:ext cx="10881000" cy="603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Text 3"/>
          <p:cNvSpPr/>
          <p:nvPr/>
        </p:nvSpPr>
        <p:spPr>
          <a:xfrm>
            <a:off x="914400" y="2075760"/>
            <a:ext cx="1737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5c6e80"/>
                </a:solidFill>
                <a:latin typeface="Calibri"/>
                <a:ea typeface="Calibri"/>
              </a:rPr>
              <a:t>Seções 1 a 3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2743200" y="207576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Por que o projeto existe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126480" y="207576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Contexto, problema e visão geral da solução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640080" y="2679120"/>
            <a:ext cx="10881000" cy="603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Text 7"/>
          <p:cNvSpPr/>
          <p:nvPr/>
        </p:nvSpPr>
        <p:spPr>
          <a:xfrm>
            <a:off x="914400" y="2788920"/>
            <a:ext cx="1737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5c6e80"/>
                </a:solidFill>
                <a:latin typeface="Calibri"/>
                <a:ea typeface="Calibri"/>
              </a:rPr>
              <a:t>Seções 4 e 5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2743200" y="278892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Como o dado é extraído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6126480" y="278892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Extração do planejamento e da execução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0"/>
          <p:cNvSpPr/>
          <p:nvPr/>
        </p:nvSpPr>
        <p:spPr>
          <a:xfrm>
            <a:off x="640080" y="3392280"/>
            <a:ext cx="10881000" cy="6030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914400" y="3502080"/>
            <a:ext cx="1737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0e7f76"/>
                </a:solidFill>
                <a:latin typeface="Calibri"/>
                <a:ea typeface="Calibri"/>
              </a:rPr>
              <a:t>Seção 6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2743200" y="350208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Como o custo é apurado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6126480" y="350208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Meta física, meta financeira, liquidação, custo unitário e alertas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14"/>
          <p:cNvSpPr/>
          <p:nvPr/>
        </p:nvSpPr>
        <p:spPr>
          <a:xfrm>
            <a:off x="640080" y="4105800"/>
            <a:ext cx="10881000" cy="6030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914400" y="4215240"/>
            <a:ext cx="1737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b9791c"/>
                </a:solidFill>
                <a:latin typeface="Calibri"/>
                <a:ea typeface="Calibri"/>
              </a:rPr>
              <a:t>Seção 7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6"/>
          <p:cNvSpPr/>
          <p:nvPr/>
        </p:nvSpPr>
        <p:spPr>
          <a:xfrm>
            <a:off x="2743200" y="421524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Como o contrato é classificado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7"/>
          <p:cNvSpPr/>
          <p:nvPr/>
        </p:nvSpPr>
        <p:spPr>
          <a:xfrm>
            <a:off x="6126480" y="421524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Objeto contratado frente à finalidade do programa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18"/>
          <p:cNvSpPr/>
          <p:nvPr/>
        </p:nvSpPr>
        <p:spPr>
          <a:xfrm>
            <a:off x="640080" y="4818960"/>
            <a:ext cx="10881000" cy="603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Text 19"/>
          <p:cNvSpPr/>
          <p:nvPr/>
        </p:nvSpPr>
        <p:spPr>
          <a:xfrm>
            <a:off x="914400" y="4928760"/>
            <a:ext cx="1737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5c6e80"/>
                </a:solidFill>
                <a:latin typeface="Calibri"/>
                <a:ea typeface="Calibri"/>
              </a:rPr>
              <a:t>Seções 8 a 11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20"/>
          <p:cNvSpPr/>
          <p:nvPr/>
        </p:nvSpPr>
        <p:spPr>
          <a:xfrm>
            <a:off x="2743200" y="492876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Solução proposta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21"/>
          <p:cNvSpPr/>
          <p:nvPr/>
        </p:nvSpPr>
        <p:spPr>
          <a:xfrm>
            <a:off x="6126480" y="492876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Arquitetura, painel, governança e riscos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22"/>
          <p:cNvSpPr/>
          <p:nvPr/>
        </p:nvSpPr>
        <p:spPr>
          <a:xfrm>
            <a:off x="640080" y="5532120"/>
            <a:ext cx="10881000" cy="603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Text 23"/>
          <p:cNvSpPr/>
          <p:nvPr/>
        </p:nvSpPr>
        <p:spPr>
          <a:xfrm>
            <a:off x="914400" y="5641920"/>
            <a:ext cx="1737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5c6e80"/>
                </a:solidFill>
                <a:latin typeface="Calibri"/>
                <a:ea typeface="Calibri"/>
              </a:rPr>
              <a:t>Seções 12 e 13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24"/>
          <p:cNvSpPr/>
          <p:nvPr/>
        </p:nvSpPr>
        <p:spPr>
          <a:xfrm>
            <a:off x="2743200" y="5641920"/>
            <a:ext cx="3291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Como começa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25"/>
          <p:cNvSpPr/>
          <p:nvPr/>
        </p:nvSpPr>
        <p:spPr>
          <a:xfrm>
            <a:off x="6126480" y="564192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Plano de implantação e decisões necessárias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26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1 · SUMÁRIO EXECUTIVO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Duas perguntas que exigem trabalho manual hoje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2"/>
          <p:cNvSpPr/>
          <p:nvPr/>
        </p:nvSpPr>
        <p:spPr>
          <a:xfrm>
            <a:off x="640080" y="1554480"/>
            <a:ext cx="10881000" cy="1371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e7f76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Shape 3"/>
          <p:cNvSpPr/>
          <p:nvPr/>
        </p:nvSpPr>
        <p:spPr>
          <a:xfrm>
            <a:off x="960120" y="181044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Text 4"/>
          <p:cNvSpPr/>
          <p:nvPr/>
        </p:nvSpPr>
        <p:spPr>
          <a:xfrm>
            <a:off x="960120" y="18104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1554480" y="177408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100" spc="-1" strike="noStrike">
                <a:solidFill>
                  <a:srgbClr val="0f2a44"/>
                </a:solidFill>
                <a:latin typeface="Cambria"/>
                <a:ea typeface="Cambria"/>
              </a:rPr>
              <a:t>Quanto custa, de fato, cada programa?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6"/>
          <p:cNvSpPr/>
          <p:nvPr/>
        </p:nvSpPr>
        <p:spPr>
          <a:xfrm>
            <a:off x="1554480" y="2267640"/>
            <a:ext cx="9417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c6e80"/>
                </a:solidFill>
                <a:latin typeface="Calibri"/>
                <a:ea typeface="Calibri"/>
              </a:rPr>
              <a:t>Confrontando as metas físicas e financeiras previstas no planejamento — PPA para o quadriênio, LOA para o exercício — com as quantidades e os valores efetivamente liquidados na execução.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7"/>
          <p:cNvSpPr/>
          <p:nvPr/>
        </p:nvSpPr>
        <p:spPr>
          <a:xfrm>
            <a:off x="640080" y="3154680"/>
            <a:ext cx="10881000" cy="1371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791c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Shape 8"/>
          <p:cNvSpPr/>
          <p:nvPr/>
        </p:nvSpPr>
        <p:spPr>
          <a:xfrm>
            <a:off x="960120" y="341064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Text 9"/>
          <p:cNvSpPr/>
          <p:nvPr/>
        </p:nvSpPr>
        <p:spPr>
          <a:xfrm>
            <a:off x="960120" y="34106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1554480" y="337428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100" spc="-1" strike="noStrike">
                <a:solidFill>
                  <a:srgbClr val="0f2a44"/>
                </a:solidFill>
                <a:latin typeface="Cambria"/>
                <a:ea typeface="Cambria"/>
              </a:rPr>
              <a:t>O contrato atende à finalidade do programa?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1"/>
          <p:cNvSpPr/>
          <p:nvPr/>
        </p:nvSpPr>
        <p:spPr>
          <a:xfrm>
            <a:off x="1554480" y="3867840"/>
            <a:ext cx="9417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c6e80"/>
                </a:solidFill>
                <a:latin typeface="Calibri"/>
                <a:ea typeface="Calibri"/>
              </a:rPr>
              <a:t>Comparando o objeto contratual com a finalidade, o objetivo e o público-alvo declarados no programa que custeia o contrato.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12"/>
          <p:cNvSpPr/>
          <p:nvPr/>
        </p:nvSpPr>
        <p:spPr>
          <a:xfrm>
            <a:off x="640080" y="4846320"/>
            <a:ext cx="10881000" cy="1188360"/>
          </a:xfrm>
          <a:prstGeom prst="roundRect">
            <a:avLst>
              <a:gd name="adj" fmla="val 4615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Text 13"/>
          <p:cNvSpPr/>
          <p:nvPr/>
        </p:nvSpPr>
        <p:spPr>
          <a:xfrm>
            <a:off x="932760" y="5010840"/>
            <a:ext cx="1029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O que passa a existir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4"/>
          <p:cNvSpPr/>
          <p:nvPr/>
        </p:nvSpPr>
        <p:spPr>
          <a:xfrm>
            <a:off x="932760" y="5376600"/>
            <a:ext cx="1029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Custo apurado por programa, ação e meta física, com percentual de execução e custo unitário por unidade entregue. Conciliação entre o previsto no plano e o autorizado no orçamento do exercício. Classificação automática de aderência de cada contrato, com justificativa e nível de confiança. Redução do esforço manual e antecipação de desvios ainda durante o exercício.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5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1.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6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2 · CONTEXTO E PROBLEMA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Três bases, estruturas próprias, nenhuma ligação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640080" y="1554480"/>
            <a:ext cx="3428640" cy="1627200"/>
          </a:xfrm>
          <a:prstGeom prst="roundRect">
            <a:avLst>
              <a:gd name="adj" fmla="val 3371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Text 3"/>
          <p:cNvSpPr/>
          <p:nvPr/>
        </p:nvSpPr>
        <p:spPr>
          <a:xfrm>
            <a:off x="914400" y="17557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f2a44"/>
                </a:solidFill>
                <a:latin typeface="Cambria"/>
                <a:ea typeface="Cambria"/>
              </a:rPr>
              <a:t>Planejamento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914400" y="2103120"/>
            <a:ext cx="2925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Registrado no PPA para o quadriênio e na LOA para o exercício, desdobrado em programas, ações e metas físicas e financeiras.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5"/>
          <p:cNvSpPr/>
          <p:nvPr/>
        </p:nvSpPr>
        <p:spPr>
          <a:xfrm>
            <a:off x="4343400" y="1554480"/>
            <a:ext cx="3428640" cy="1627200"/>
          </a:xfrm>
          <a:prstGeom prst="roundRect">
            <a:avLst>
              <a:gd name="adj" fmla="val 3371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Text 6"/>
          <p:cNvSpPr/>
          <p:nvPr/>
        </p:nvSpPr>
        <p:spPr>
          <a:xfrm>
            <a:off x="4617720" y="17557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f2a44"/>
                </a:solidFill>
                <a:latin typeface="Cambria"/>
                <a:ea typeface="Cambria"/>
              </a:rPr>
              <a:t>Execução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4617720" y="2103120"/>
            <a:ext cx="2925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Registrada nos sistemas orçamentário e financeiro: empenho, liquidação e pagamento.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8"/>
          <p:cNvSpPr/>
          <p:nvPr/>
        </p:nvSpPr>
        <p:spPr>
          <a:xfrm>
            <a:off x="8046720" y="1554480"/>
            <a:ext cx="3428640" cy="1627200"/>
          </a:xfrm>
          <a:prstGeom prst="roundRect">
            <a:avLst>
              <a:gd name="adj" fmla="val 3371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Text 9"/>
          <p:cNvSpPr/>
          <p:nvPr/>
        </p:nvSpPr>
        <p:spPr>
          <a:xfrm>
            <a:off x="8321040" y="17557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f2a44"/>
                </a:solidFill>
                <a:latin typeface="Cambria"/>
                <a:ea typeface="Cambria"/>
              </a:rPr>
              <a:t>Contratos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0"/>
          <p:cNvSpPr/>
          <p:nvPr/>
        </p:nvSpPr>
        <p:spPr>
          <a:xfrm>
            <a:off x="8321040" y="2103120"/>
            <a:ext cx="2925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Vivem em sistemas de compras, com objeto descrito em linguagem livre.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1"/>
          <p:cNvSpPr/>
          <p:nvPr/>
        </p:nvSpPr>
        <p:spPr>
          <a:xfrm>
            <a:off x="640080" y="34290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900" spc="-1" strike="noStrike">
                <a:solidFill>
                  <a:srgbClr val="0f2a44"/>
                </a:solidFill>
                <a:latin typeface="Cambria"/>
                <a:ea typeface="Cambria"/>
              </a:rPr>
              <a:t>As consequências práticas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2"/>
          <p:cNvSpPr/>
          <p:nvPr/>
        </p:nvSpPr>
        <p:spPr>
          <a:xfrm>
            <a:off x="676800" y="405072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Text 13"/>
          <p:cNvSpPr/>
          <p:nvPr/>
        </p:nvSpPr>
        <p:spPr>
          <a:xfrm>
            <a:off x="951120" y="3931920"/>
            <a:ext cx="1056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374b5e"/>
                </a:solidFill>
                <a:latin typeface="Calibri"/>
                <a:ea typeface="Calibri"/>
              </a:rPr>
              <a:t>O custo real de um programa só é conhecido no fechamento do exercício, quando corrigir a rota já não é possível.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4"/>
          <p:cNvSpPr/>
          <p:nvPr/>
        </p:nvSpPr>
        <p:spPr>
          <a:xfrm>
            <a:off x="676800" y="456300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Text 15"/>
          <p:cNvSpPr/>
          <p:nvPr/>
        </p:nvSpPr>
        <p:spPr>
          <a:xfrm>
            <a:off x="951120" y="4443840"/>
            <a:ext cx="1056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374b5e"/>
                </a:solidFill>
                <a:latin typeface="Calibri"/>
                <a:ea typeface="Calibri"/>
              </a:rPr>
              <a:t>A comparação entre meta física e valor liquidado só é possível em planilha, de forma pontual e não auditável.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6"/>
          <p:cNvSpPr/>
          <p:nvPr/>
        </p:nvSpPr>
        <p:spPr>
          <a:xfrm>
            <a:off x="676800" y="507492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Text 17"/>
          <p:cNvSpPr/>
          <p:nvPr/>
        </p:nvSpPr>
        <p:spPr>
          <a:xfrm>
            <a:off x="951120" y="4956120"/>
            <a:ext cx="1056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374b5e"/>
                </a:solidFill>
                <a:latin typeface="Calibri"/>
                <a:ea typeface="Calibri"/>
              </a:rPr>
              <a:t>A verificação de que um contrato serve à finalidade depende de leitura humana caso a caso, inviável no volume que os órgãos contratam.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8"/>
          <p:cNvSpPr/>
          <p:nvPr/>
        </p:nvSpPr>
        <p:spPr>
          <a:xfrm>
            <a:off x="676800" y="558684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Text 19"/>
          <p:cNvSpPr/>
          <p:nvPr/>
        </p:nvSpPr>
        <p:spPr>
          <a:xfrm>
            <a:off x="951120" y="5468040"/>
            <a:ext cx="1056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374b5e"/>
                </a:solidFill>
                <a:latin typeface="Calibri"/>
                <a:ea typeface="Calibri"/>
              </a:rPr>
              <a:t>Divergências de classificação e de nomenclatura entre as bases dificultam a consolidação.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0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2.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1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3 · VISÃO GERAL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As trilhas e onde elas se encontram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640080" y="148140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199" strike="noStrike">
                <a:solidFill>
                  <a:srgbClr val="5c6e80"/>
                </a:solidFill>
                <a:latin typeface="Calibri"/>
                <a:ea typeface="Calibri"/>
              </a:rPr>
              <a:t>ENTRADA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4617720" y="148140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199" strike="noStrike">
                <a:solidFill>
                  <a:srgbClr val="0e7f76"/>
                </a:solidFill>
                <a:latin typeface="Calibri"/>
                <a:ea typeface="Calibri"/>
              </a:rPr>
              <a:t>CRUZAMENTO COM 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4"/>
          <p:cNvSpPr/>
          <p:nvPr/>
        </p:nvSpPr>
        <p:spPr>
          <a:xfrm>
            <a:off x="8595360" y="148140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199" strike="noStrike">
                <a:solidFill>
                  <a:srgbClr val="5c6e80"/>
                </a:solidFill>
                <a:latin typeface="Calibri"/>
                <a:ea typeface="Calibri"/>
              </a:rPr>
              <a:t>ENTREGA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5"/>
          <p:cNvSpPr/>
          <p:nvPr/>
        </p:nvSpPr>
        <p:spPr>
          <a:xfrm>
            <a:off x="640080" y="1710000"/>
            <a:ext cx="3017160" cy="1051200"/>
          </a:xfrm>
          <a:prstGeom prst="roundRect">
            <a:avLst>
              <a:gd name="adj" fmla="val 5217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Text 6"/>
          <p:cNvSpPr/>
          <p:nvPr/>
        </p:nvSpPr>
        <p:spPr>
          <a:xfrm>
            <a:off x="868680" y="185616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Planejamento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7"/>
          <p:cNvSpPr/>
          <p:nvPr/>
        </p:nvSpPr>
        <p:spPr>
          <a:xfrm>
            <a:off x="868680" y="2167200"/>
            <a:ext cx="2697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5c6e80"/>
                </a:solidFill>
                <a:latin typeface="Calibri"/>
                <a:ea typeface="Calibri"/>
              </a:rPr>
              <a:t>PPA (quadriênio) e LOA (exercício) › Programa › Ação › Metas física e financeira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8"/>
          <p:cNvSpPr/>
          <p:nvPr/>
        </p:nvSpPr>
        <p:spPr>
          <a:xfrm>
            <a:off x="640080" y="2999160"/>
            <a:ext cx="3017160" cy="1051200"/>
          </a:xfrm>
          <a:prstGeom prst="roundRect">
            <a:avLst>
              <a:gd name="adj" fmla="val 5217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Text 9"/>
          <p:cNvSpPr/>
          <p:nvPr/>
        </p:nvSpPr>
        <p:spPr>
          <a:xfrm>
            <a:off x="868680" y="314568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Execução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0"/>
          <p:cNvSpPr/>
          <p:nvPr/>
        </p:nvSpPr>
        <p:spPr>
          <a:xfrm>
            <a:off x="868680" y="3456360"/>
            <a:ext cx="2697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5c6e80"/>
                </a:solidFill>
                <a:latin typeface="Calibri"/>
                <a:ea typeface="Calibri"/>
              </a:rPr>
              <a:t>Empenho › Liquidação (valor e quantidade) › Pagamento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11"/>
          <p:cNvSpPr/>
          <p:nvPr/>
        </p:nvSpPr>
        <p:spPr>
          <a:xfrm>
            <a:off x="640080" y="4260960"/>
            <a:ext cx="3017160" cy="1051200"/>
          </a:xfrm>
          <a:prstGeom prst="roundRect">
            <a:avLst>
              <a:gd name="adj" fmla="val 5217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Text 12"/>
          <p:cNvSpPr/>
          <p:nvPr/>
        </p:nvSpPr>
        <p:spPr>
          <a:xfrm>
            <a:off x="868680" y="440748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Contratos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3"/>
          <p:cNvSpPr/>
          <p:nvPr/>
        </p:nvSpPr>
        <p:spPr>
          <a:xfrm>
            <a:off x="868680" y="4718160"/>
            <a:ext cx="2697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5c6e80"/>
                </a:solidFill>
                <a:latin typeface="Calibri"/>
                <a:ea typeface="Calibri"/>
              </a:rPr>
              <a:t>Objeto › Valor › Vigência › Dotação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4"/>
          <p:cNvSpPr/>
          <p:nvPr/>
        </p:nvSpPr>
        <p:spPr>
          <a:xfrm>
            <a:off x="4617720" y="1828800"/>
            <a:ext cx="3017160" cy="17002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0e7f76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Shape 15"/>
          <p:cNvSpPr/>
          <p:nvPr/>
        </p:nvSpPr>
        <p:spPr>
          <a:xfrm>
            <a:off x="4846320" y="203004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Text 16"/>
          <p:cNvSpPr/>
          <p:nvPr/>
        </p:nvSpPr>
        <p:spPr>
          <a:xfrm>
            <a:off x="4846320" y="2030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7"/>
          <p:cNvSpPr/>
          <p:nvPr/>
        </p:nvSpPr>
        <p:spPr>
          <a:xfrm>
            <a:off x="5321880" y="203004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IA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8"/>
          <p:cNvSpPr/>
          <p:nvPr/>
        </p:nvSpPr>
        <p:spPr>
          <a:xfrm>
            <a:off x="4846320" y="251460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Custo do programa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9"/>
          <p:cNvSpPr/>
          <p:nvPr/>
        </p:nvSpPr>
        <p:spPr>
          <a:xfrm>
            <a:off x="4754880" y="2853000"/>
            <a:ext cx="2697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5c6e80"/>
                </a:solidFill>
                <a:latin typeface="Calibri"/>
                <a:ea typeface="Calibri"/>
              </a:rPr>
              <a:t>Meta física e financeira × valor liquidado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20"/>
          <p:cNvSpPr/>
          <p:nvPr/>
        </p:nvSpPr>
        <p:spPr>
          <a:xfrm>
            <a:off x="4617720" y="3776400"/>
            <a:ext cx="3017160" cy="17002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b9791c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Shape 21"/>
          <p:cNvSpPr/>
          <p:nvPr/>
        </p:nvSpPr>
        <p:spPr>
          <a:xfrm>
            <a:off x="4846320" y="397764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Text 22"/>
          <p:cNvSpPr/>
          <p:nvPr/>
        </p:nvSpPr>
        <p:spPr>
          <a:xfrm>
            <a:off x="4846320" y="39776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23"/>
          <p:cNvSpPr/>
          <p:nvPr/>
        </p:nvSpPr>
        <p:spPr>
          <a:xfrm>
            <a:off x="5321880" y="397764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b9791c"/>
                </a:solidFill>
                <a:latin typeface="Calibri"/>
                <a:ea typeface="Calibri"/>
              </a:rPr>
              <a:t>IA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24"/>
          <p:cNvSpPr/>
          <p:nvPr/>
        </p:nvSpPr>
        <p:spPr>
          <a:xfrm>
            <a:off x="4846320" y="446220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Aderência contratual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25"/>
          <p:cNvSpPr/>
          <p:nvPr/>
        </p:nvSpPr>
        <p:spPr>
          <a:xfrm>
            <a:off x="4754880" y="4800600"/>
            <a:ext cx="2697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5c6e80"/>
                </a:solidFill>
                <a:latin typeface="Calibri"/>
                <a:ea typeface="Calibri"/>
              </a:rPr>
              <a:t>Objeto do contrato × finalidade do programa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26"/>
          <p:cNvSpPr/>
          <p:nvPr/>
        </p:nvSpPr>
        <p:spPr>
          <a:xfrm>
            <a:off x="8595360" y="1828800"/>
            <a:ext cx="2925720" cy="3529080"/>
          </a:xfrm>
          <a:prstGeom prst="roundRect">
            <a:avLst>
              <a:gd name="adj" fmla="val 1875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Text 27"/>
          <p:cNvSpPr/>
          <p:nvPr/>
        </p:nvSpPr>
        <p:spPr>
          <a:xfrm>
            <a:off x="8851320" y="20574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ambria"/>
                <a:ea typeface="Cambria"/>
              </a:rPr>
              <a:t>Painel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28"/>
          <p:cNvSpPr/>
          <p:nvPr/>
        </p:nvSpPr>
        <p:spPr>
          <a:xfrm>
            <a:off x="8888040" y="272484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5fa9a0"/>
          </a:solidFill>
          <a:ln w="12700">
            <a:solidFill>
              <a:srgbClr val="5fa9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Text 29"/>
          <p:cNvSpPr/>
          <p:nvPr/>
        </p:nvSpPr>
        <p:spPr>
          <a:xfrm>
            <a:off x="9162360" y="2606040"/>
            <a:ext cx="215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c3d2e0"/>
                </a:solidFill>
                <a:latin typeface="Calibri"/>
                <a:ea typeface="Calibri"/>
              </a:rPr>
              <a:t>Custo por programa e por meta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30"/>
          <p:cNvSpPr/>
          <p:nvPr/>
        </p:nvSpPr>
        <p:spPr>
          <a:xfrm>
            <a:off x="8888040" y="315468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5fa9a0"/>
          </a:solidFill>
          <a:ln w="12700">
            <a:solidFill>
              <a:srgbClr val="5fa9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" name="Text 31"/>
          <p:cNvSpPr/>
          <p:nvPr/>
        </p:nvSpPr>
        <p:spPr>
          <a:xfrm>
            <a:off x="9162360" y="3035880"/>
            <a:ext cx="215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c3d2e0"/>
                </a:solidFill>
                <a:latin typeface="Calibri"/>
                <a:ea typeface="Calibri"/>
              </a:rPr>
              <a:t>Custo unitário e desvio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32"/>
          <p:cNvSpPr/>
          <p:nvPr/>
        </p:nvSpPr>
        <p:spPr>
          <a:xfrm>
            <a:off x="8888040" y="358452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5fa9a0"/>
          </a:solidFill>
          <a:ln w="12700">
            <a:solidFill>
              <a:srgbClr val="5fa9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Text 33"/>
          <p:cNvSpPr/>
          <p:nvPr/>
        </p:nvSpPr>
        <p:spPr>
          <a:xfrm>
            <a:off x="9162360" y="3465720"/>
            <a:ext cx="215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c3d2e0"/>
                </a:solidFill>
                <a:latin typeface="Calibri"/>
                <a:ea typeface="Calibri"/>
              </a:rPr>
              <a:t>Ritmo de execução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34"/>
          <p:cNvSpPr/>
          <p:nvPr/>
        </p:nvSpPr>
        <p:spPr>
          <a:xfrm>
            <a:off x="8888040" y="401436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5fa9a0"/>
          </a:solidFill>
          <a:ln w="12700">
            <a:solidFill>
              <a:srgbClr val="5fa9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5" name="Text 35"/>
          <p:cNvSpPr/>
          <p:nvPr/>
        </p:nvSpPr>
        <p:spPr>
          <a:xfrm>
            <a:off x="9162360" y="3895200"/>
            <a:ext cx="215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c3d2e0"/>
                </a:solidFill>
                <a:latin typeface="Calibri"/>
                <a:ea typeface="Calibri"/>
              </a:rPr>
              <a:t>Classificação de aderência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36"/>
          <p:cNvSpPr/>
          <p:nvPr/>
        </p:nvSpPr>
        <p:spPr>
          <a:xfrm>
            <a:off x="8888040" y="444384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5fa9a0"/>
          </a:solidFill>
          <a:ln w="12700">
            <a:solidFill>
              <a:srgbClr val="5fa9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7" name="Text 37"/>
          <p:cNvSpPr/>
          <p:nvPr/>
        </p:nvSpPr>
        <p:spPr>
          <a:xfrm>
            <a:off x="9162360" y="4325040"/>
            <a:ext cx="215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c3d2e0"/>
                </a:solidFill>
                <a:latin typeface="Calibri"/>
                <a:ea typeface="Calibri"/>
              </a:rPr>
              <a:t>Fila de alertas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38"/>
          <p:cNvSpPr/>
          <p:nvPr/>
        </p:nvSpPr>
        <p:spPr>
          <a:xfrm>
            <a:off x="8888040" y="487368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5fa9a0"/>
          </a:solidFill>
          <a:ln w="12700">
            <a:solidFill>
              <a:srgbClr val="5fa9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9" name="Text 39"/>
          <p:cNvSpPr/>
          <p:nvPr/>
        </p:nvSpPr>
        <p:spPr>
          <a:xfrm>
            <a:off x="9162360" y="4754880"/>
            <a:ext cx="215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c3d2e0"/>
                </a:solidFill>
                <a:latin typeface="Calibri"/>
                <a:ea typeface="Calibri"/>
              </a:rPr>
              <a:t>Trilha até a origem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40"/>
          <p:cNvSpPr/>
          <p:nvPr/>
        </p:nvSpPr>
        <p:spPr>
          <a:xfrm>
            <a:off x="3749040" y="2240280"/>
            <a:ext cx="777240" cy="360"/>
          </a:xfrm>
          <a:prstGeom prst="line">
            <a:avLst/>
          </a:prstGeom>
          <a:ln w="22225">
            <a:solidFill>
              <a:srgbClr val="8f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Shape 41"/>
          <p:cNvSpPr/>
          <p:nvPr/>
        </p:nvSpPr>
        <p:spPr>
          <a:xfrm>
            <a:off x="3749040" y="3401280"/>
            <a:ext cx="777240" cy="360"/>
          </a:xfrm>
          <a:prstGeom prst="line">
            <a:avLst/>
          </a:prstGeom>
          <a:ln w="22225">
            <a:solidFill>
              <a:srgbClr val="8f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Shape 42"/>
          <p:cNvSpPr/>
          <p:nvPr/>
        </p:nvSpPr>
        <p:spPr>
          <a:xfrm>
            <a:off x="3749040" y="4791240"/>
            <a:ext cx="777240" cy="360"/>
          </a:xfrm>
          <a:prstGeom prst="line">
            <a:avLst/>
          </a:prstGeom>
          <a:ln w="22225">
            <a:solidFill>
              <a:srgbClr val="8f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3" name="Shape 43"/>
          <p:cNvSpPr/>
          <p:nvPr/>
        </p:nvSpPr>
        <p:spPr>
          <a:xfrm>
            <a:off x="7726680" y="2679120"/>
            <a:ext cx="777240" cy="360"/>
          </a:xfrm>
          <a:prstGeom prst="line">
            <a:avLst/>
          </a:prstGeom>
          <a:ln w="22225">
            <a:solidFill>
              <a:srgbClr val="8f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Shape 44"/>
          <p:cNvSpPr/>
          <p:nvPr/>
        </p:nvSpPr>
        <p:spPr>
          <a:xfrm>
            <a:off x="7726680" y="4626720"/>
            <a:ext cx="777240" cy="360"/>
          </a:xfrm>
          <a:prstGeom prst="line">
            <a:avLst/>
          </a:prstGeom>
          <a:ln w="22225">
            <a:solidFill>
              <a:srgbClr val="8f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5" name="Text 45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3.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46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3 · VISÃO GERAL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O que entra e o que sai de cada fase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640080" y="1600200"/>
            <a:ext cx="2102760" cy="3837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749880" y="1600200"/>
            <a:ext cx="1883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Calibri"/>
                <a:ea typeface="Calibri"/>
              </a:rPr>
              <a:t>Fase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4"/>
          <p:cNvSpPr/>
          <p:nvPr/>
        </p:nvSpPr>
        <p:spPr>
          <a:xfrm>
            <a:off x="2743200" y="1600200"/>
            <a:ext cx="2651400" cy="3837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2853000" y="1600200"/>
            <a:ext cx="2431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Calibri"/>
                <a:ea typeface="Calibri"/>
              </a:rPr>
              <a:t>Entrada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6"/>
          <p:cNvSpPr/>
          <p:nvPr/>
        </p:nvSpPr>
        <p:spPr>
          <a:xfrm>
            <a:off x="5394960" y="1600200"/>
            <a:ext cx="3108600" cy="3837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5504760" y="1600200"/>
            <a:ext cx="2889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Calibri"/>
                <a:ea typeface="Calibri"/>
              </a:rPr>
              <a:t>Processamento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8"/>
          <p:cNvSpPr/>
          <p:nvPr/>
        </p:nvSpPr>
        <p:spPr>
          <a:xfrm>
            <a:off x="8503920" y="1600200"/>
            <a:ext cx="3017160" cy="3837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8613720" y="1600200"/>
            <a:ext cx="2797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Calibri"/>
                <a:ea typeface="Calibri"/>
              </a:rPr>
              <a:t>Saída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0"/>
          <p:cNvSpPr/>
          <p:nvPr/>
        </p:nvSpPr>
        <p:spPr>
          <a:xfrm>
            <a:off x="640080" y="1984320"/>
            <a:ext cx="210276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8" name="Text 11"/>
          <p:cNvSpPr/>
          <p:nvPr/>
        </p:nvSpPr>
        <p:spPr>
          <a:xfrm>
            <a:off x="749880" y="1984320"/>
            <a:ext cx="1883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Fase 1 — Planejamento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2"/>
          <p:cNvSpPr/>
          <p:nvPr/>
        </p:nvSpPr>
        <p:spPr>
          <a:xfrm>
            <a:off x="2743200" y="1984320"/>
            <a:ext cx="265140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0" name="Text 13"/>
          <p:cNvSpPr/>
          <p:nvPr/>
        </p:nvSpPr>
        <p:spPr>
          <a:xfrm>
            <a:off x="2853000" y="1984320"/>
            <a:ext cx="2431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PPA (quadriênio) e LOA (exercício)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14"/>
          <p:cNvSpPr/>
          <p:nvPr/>
        </p:nvSpPr>
        <p:spPr>
          <a:xfrm>
            <a:off x="5394960" y="1984320"/>
            <a:ext cx="310860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5504760" y="1984320"/>
            <a:ext cx="2889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Extração, normalização e conciliação PPA × LOA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16"/>
          <p:cNvSpPr/>
          <p:nvPr/>
        </p:nvSpPr>
        <p:spPr>
          <a:xfrm>
            <a:off x="8503920" y="1984320"/>
            <a:ext cx="301716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" name="Text 17"/>
          <p:cNvSpPr/>
          <p:nvPr/>
        </p:nvSpPr>
        <p:spPr>
          <a:xfrm>
            <a:off x="8613720" y="1984320"/>
            <a:ext cx="2797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0e7f76"/>
                </a:solidFill>
                <a:latin typeface="Calibri"/>
                <a:ea typeface="Calibri"/>
              </a:rPr>
              <a:t>Programa, ação, meta física e financeira padronizados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18"/>
          <p:cNvSpPr/>
          <p:nvPr/>
        </p:nvSpPr>
        <p:spPr>
          <a:xfrm>
            <a:off x="640080" y="2642760"/>
            <a:ext cx="2102760" cy="65808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" name="Text 19"/>
          <p:cNvSpPr/>
          <p:nvPr/>
        </p:nvSpPr>
        <p:spPr>
          <a:xfrm>
            <a:off x="749880" y="2642760"/>
            <a:ext cx="1883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Fase 2 — Execução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0"/>
          <p:cNvSpPr/>
          <p:nvPr/>
        </p:nvSpPr>
        <p:spPr>
          <a:xfrm>
            <a:off x="2743200" y="2642760"/>
            <a:ext cx="2651400" cy="65808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8" name="Text 21"/>
          <p:cNvSpPr/>
          <p:nvPr/>
        </p:nvSpPr>
        <p:spPr>
          <a:xfrm>
            <a:off x="2853000" y="2642760"/>
            <a:ext cx="2431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Empenho, liquidação, pagamento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2"/>
          <p:cNvSpPr/>
          <p:nvPr/>
        </p:nvSpPr>
        <p:spPr>
          <a:xfrm>
            <a:off x="5394960" y="2642760"/>
            <a:ext cx="3108600" cy="65808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0" name="Text 23"/>
          <p:cNvSpPr/>
          <p:nvPr/>
        </p:nvSpPr>
        <p:spPr>
          <a:xfrm>
            <a:off x="5504760" y="2642760"/>
            <a:ext cx="2889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Extração e normalização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24"/>
          <p:cNvSpPr/>
          <p:nvPr/>
        </p:nvSpPr>
        <p:spPr>
          <a:xfrm>
            <a:off x="8503920" y="2642760"/>
            <a:ext cx="3017160" cy="65808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2" name="Text 25"/>
          <p:cNvSpPr/>
          <p:nvPr/>
        </p:nvSpPr>
        <p:spPr>
          <a:xfrm>
            <a:off x="8613720" y="2642760"/>
            <a:ext cx="2797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0e7f76"/>
                </a:solidFill>
                <a:latin typeface="Calibri"/>
                <a:ea typeface="Calibri"/>
              </a:rPr>
              <a:t>Despesa liquidada e quantidades entregues, por ação e período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26"/>
          <p:cNvSpPr/>
          <p:nvPr/>
        </p:nvSpPr>
        <p:spPr>
          <a:xfrm>
            <a:off x="640080" y="3300840"/>
            <a:ext cx="210276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4" name="Text 27"/>
          <p:cNvSpPr/>
          <p:nvPr/>
        </p:nvSpPr>
        <p:spPr>
          <a:xfrm>
            <a:off x="749880" y="3300840"/>
            <a:ext cx="1883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Fase 3 — Custo (IA)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28"/>
          <p:cNvSpPr/>
          <p:nvPr/>
        </p:nvSpPr>
        <p:spPr>
          <a:xfrm>
            <a:off x="2743200" y="3300840"/>
            <a:ext cx="265140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6" name="Text 29"/>
          <p:cNvSpPr/>
          <p:nvPr/>
        </p:nvSpPr>
        <p:spPr>
          <a:xfrm>
            <a:off x="2853000" y="3300840"/>
            <a:ext cx="2431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Metas do plano × valor e quantidade liquidados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30"/>
          <p:cNvSpPr/>
          <p:nvPr/>
        </p:nvSpPr>
        <p:spPr>
          <a:xfrm>
            <a:off x="5394960" y="3300840"/>
            <a:ext cx="310860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8" name="Text 31"/>
          <p:cNvSpPr/>
          <p:nvPr/>
        </p:nvSpPr>
        <p:spPr>
          <a:xfrm>
            <a:off x="5504760" y="3300840"/>
            <a:ext cx="2889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Conciliação semântica de unidades e escopo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2"/>
          <p:cNvSpPr/>
          <p:nvPr/>
        </p:nvSpPr>
        <p:spPr>
          <a:xfrm>
            <a:off x="8503920" y="3300840"/>
            <a:ext cx="3017160" cy="6580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0" name="Text 33"/>
          <p:cNvSpPr/>
          <p:nvPr/>
        </p:nvSpPr>
        <p:spPr>
          <a:xfrm>
            <a:off x="8613720" y="3300840"/>
            <a:ext cx="2797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0e7f76"/>
                </a:solidFill>
                <a:latin typeface="Calibri"/>
                <a:ea typeface="Calibri"/>
              </a:rPr>
              <a:t>Custo do programa e custo unitário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34"/>
          <p:cNvSpPr/>
          <p:nvPr/>
        </p:nvSpPr>
        <p:spPr>
          <a:xfrm>
            <a:off x="640080" y="3959280"/>
            <a:ext cx="2102760" cy="65808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2" name="Text 35"/>
          <p:cNvSpPr/>
          <p:nvPr/>
        </p:nvSpPr>
        <p:spPr>
          <a:xfrm>
            <a:off x="749880" y="3959280"/>
            <a:ext cx="1883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Fase 4 — Aderência (IA)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36"/>
          <p:cNvSpPr/>
          <p:nvPr/>
        </p:nvSpPr>
        <p:spPr>
          <a:xfrm>
            <a:off x="2743200" y="3959280"/>
            <a:ext cx="2651400" cy="65808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4" name="Text 37"/>
          <p:cNvSpPr/>
          <p:nvPr/>
        </p:nvSpPr>
        <p:spPr>
          <a:xfrm>
            <a:off x="2853000" y="3959280"/>
            <a:ext cx="2431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Objeto do contrato, finalidade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38"/>
          <p:cNvSpPr/>
          <p:nvPr/>
        </p:nvSpPr>
        <p:spPr>
          <a:xfrm>
            <a:off x="5394960" y="3959280"/>
            <a:ext cx="3108600" cy="65808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6" name="Text 39"/>
          <p:cNvSpPr/>
          <p:nvPr/>
        </p:nvSpPr>
        <p:spPr>
          <a:xfrm>
            <a:off x="5504760" y="3959280"/>
            <a:ext cx="2889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Análise semântica e classificação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40"/>
          <p:cNvSpPr/>
          <p:nvPr/>
        </p:nvSpPr>
        <p:spPr>
          <a:xfrm>
            <a:off x="8503920" y="3959280"/>
            <a:ext cx="3017160" cy="65808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8" name="Text 41"/>
          <p:cNvSpPr/>
          <p:nvPr/>
        </p:nvSpPr>
        <p:spPr>
          <a:xfrm>
            <a:off x="8613720" y="3959280"/>
            <a:ext cx="2797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0e7f76"/>
                </a:solidFill>
                <a:latin typeface="Calibri"/>
                <a:ea typeface="Calibri"/>
              </a:rPr>
              <a:t>Índice de aderência com justificativa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42"/>
          <p:cNvSpPr/>
          <p:nvPr/>
        </p:nvSpPr>
        <p:spPr>
          <a:xfrm>
            <a:off x="640080" y="4480560"/>
            <a:ext cx="10881000" cy="1234080"/>
          </a:xfrm>
          <a:prstGeom prst="roundRect">
            <a:avLst>
              <a:gd name="adj" fmla="val 4444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0" name="Text 43"/>
          <p:cNvSpPr/>
          <p:nvPr/>
        </p:nvSpPr>
        <p:spPr>
          <a:xfrm>
            <a:off x="932760" y="4645080"/>
            <a:ext cx="1029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A divisão de trabalho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44"/>
          <p:cNvSpPr/>
          <p:nvPr/>
        </p:nvSpPr>
        <p:spPr>
          <a:xfrm>
            <a:off x="932760" y="5010840"/>
            <a:ext cx="1029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As fases 1 e 2 não analisam nada: extraem, padronizam e registram a origem de cada campo. Toda a análise acontece nas fases 3 e 4.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45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3.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46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4 · FASE 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O que é extraído do planejamento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2"/>
          <p:cNvSpPr/>
          <p:nvPr/>
        </p:nvSpPr>
        <p:spPr>
          <a:xfrm>
            <a:off x="640080" y="137160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5c6e80"/>
                </a:solidFill>
                <a:latin typeface="Calibri"/>
                <a:ea typeface="Calibri"/>
              </a:rPr>
              <a:t>O planejamento vem de dois instrumentos. O PPA projeta o programa para quatro anos; a LOA detalha o mesmo programa para um exercício. Os dois são extraídos e conferidos entre si.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640080" y="2057400"/>
            <a:ext cx="5211720" cy="28800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0e7f76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8" name="Text 4"/>
          <p:cNvSpPr/>
          <p:nvPr/>
        </p:nvSpPr>
        <p:spPr>
          <a:xfrm>
            <a:off x="932760" y="2240280"/>
            <a:ext cx="1279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200" spc="-1" strike="noStrike">
                <a:solidFill>
                  <a:srgbClr val="0f2a44"/>
                </a:solidFill>
                <a:latin typeface="Cambria"/>
                <a:ea typeface="Cambria"/>
              </a:rPr>
              <a:t>PPA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5"/>
          <p:cNvSpPr/>
          <p:nvPr/>
        </p:nvSpPr>
        <p:spPr>
          <a:xfrm>
            <a:off x="2240280" y="2286000"/>
            <a:ext cx="1371240" cy="310680"/>
          </a:xfrm>
          <a:prstGeom prst="roundRect">
            <a:avLst>
              <a:gd name="adj" fmla="val 14706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2240280" y="2286000"/>
            <a:ext cx="1371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Calibri"/>
                <a:ea typeface="Calibri"/>
              </a:rPr>
              <a:t>Quatro anos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7"/>
          <p:cNvSpPr/>
          <p:nvPr/>
        </p:nvSpPr>
        <p:spPr>
          <a:xfrm>
            <a:off x="932760" y="269748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200" spc="-1" strike="noStrike">
                <a:solidFill>
                  <a:srgbClr val="5c6e80"/>
                </a:solidFill>
                <a:latin typeface="Calibri"/>
                <a:ea typeface="Calibri"/>
              </a:rPr>
              <a:t>Horizonte do ciclo de planejamento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8"/>
          <p:cNvSpPr/>
          <p:nvPr/>
        </p:nvSpPr>
        <p:spPr>
          <a:xfrm>
            <a:off x="969120" y="311796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1243440" y="2999160"/>
            <a:ext cx="435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Código e denominação do programa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0"/>
          <p:cNvSpPr/>
          <p:nvPr/>
        </p:nvSpPr>
        <p:spPr>
          <a:xfrm>
            <a:off x="969120" y="343368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5" name="Text 11"/>
          <p:cNvSpPr/>
          <p:nvPr/>
        </p:nvSpPr>
        <p:spPr>
          <a:xfrm>
            <a:off x="1243440" y="3314880"/>
            <a:ext cx="435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Objetivo, finalidade e público-alvo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2"/>
          <p:cNvSpPr/>
          <p:nvPr/>
        </p:nvSpPr>
        <p:spPr>
          <a:xfrm>
            <a:off x="969120" y="374904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7" name="Text 13"/>
          <p:cNvSpPr/>
          <p:nvPr/>
        </p:nvSpPr>
        <p:spPr>
          <a:xfrm>
            <a:off x="1243440" y="3630240"/>
            <a:ext cx="435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Ação, produto e unidade de medida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4"/>
          <p:cNvSpPr/>
          <p:nvPr/>
        </p:nvSpPr>
        <p:spPr>
          <a:xfrm>
            <a:off x="969120" y="406440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9" name="Text 15"/>
          <p:cNvSpPr/>
          <p:nvPr/>
        </p:nvSpPr>
        <p:spPr>
          <a:xfrm>
            <a:off x="1243440" y="3945600"/>
            <a:ext cx="435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Meta física por exercício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16"/>
          <p:cNvSpPr/>
          <p:nvPr/>
        </p:nvSpPr>
        <p:spPr>
          <a:xfrm>
            <a:off x="969120" y="438012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1" name="Text 17"/>
          <p:cNvSpPr/>
          <p:nvPr/>
        </p:nvSpPr>
        <p:spPr>
          <a:xfrm>
            <a:off x="1243440" y="4260960"/>
            <a:ext cx="435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Meta financeira por exercício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8"/>
          <p:cNvSpPr/>
          <p:nvPr/>
        </p:nvSpPr>
        <p:spPr>
          <a:xfrm>
            <a:off x="969120" y="469548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3" name="Text 19"/>
          <p:cNvSpPr/>
          <p:nvPr/>
        </p:nvSpPr>
        <p:spPr>
          <a:xfrm>
            <a:off x="1243440" y="4576680"/>
            <a:ext cx="435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Valor global do programa no quadriênio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20"/>
          <p:cNvSpPr/>
          <p:nvPr/>
        </p:nvSpPr>
        <p:spPr>
          <a:xfrm>
            <a:off x="6217920" y="2057400"/>
            <a:ext cx="5211720" cy="28800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b9791c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5" name="Text 21"/>
          <p:cNvSpPr/>
          <p:nvPr/>
        </p:nvSpPr>
        <p:spPr>
          <a:xfrm>
            <a:off x="6510600" y="2240280"/>
            <a:ext cx="1279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200" spc="-1" strike="noStrike">
                <a:solidFill>
                  <a:srgbClr val="0f2a44"/>
                </a:solidFill>
                <a:latin typeface="Cambria"/>
                <a:ea typeface="Cambria"/>
              </a:rPr>
              <a:t>LOA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22"/>
          <p:cNvSpPr/>
          <p:nvPr/>
        </p:nvSpPr>
        <p:spPr>
          <a:xfrm>
            <a:off x="7818120" y="2286000"/>
            <a:ext cx="1371240" cy="310680"/>
          </a:xfrm>
          <a:prstGeom prst="roundRect">
            <a:avLst>
              <a:gd name="adj" fmla="val 14706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7" name="Text 23"/>
          <p:cNvSpPr/>
          <p:nvPr/>
        </p:nvSpPr>
        <p:spPr>
          <a:xfrm>
            <a:off x="7818120" y="2286000"/>
            <a:ext cx="1371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Calibri"/>
                <a:ea typeface="Calibri"/>
              </a:rPr>
              <a:t>Um exercício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24"/>
          <p:cNvSpPr/>
          <p:nvPr/>
        </p:nvSpPr>
        <p:spPr>
          <a:xfrm>
            <a:off x="6510600" y="269748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200" spc="-1" strike="noStrike">
                <a:solidFill>
                  <a:srgbClr val="5c6e80"/>
                </a:solidFill>
                <a:latin typeface="Calibri"/>
                <a:ea typeface="Calibri"/>
              </a:rPr>
              <a:t>Detalhamento orçamentário do ano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25"/>
          <p:cNvSpPr/>
          <p:nvPr/>
        </p:nvSpPr>
        <p:spPr>
          <a:xfrm>
            <a:off x="6546960" y="311796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0" name="Text 26"/>
          <p:cNvSpPr/>
          <p:nvPr/>
        </p:nvSpPr>
        <p:spPr>
          <a:xfrm>
            <a:off x="6821280" y="2999160"/>
            <a:ext cx="435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Mesmo código de programa e de ação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27"/>
          <p:cNvSpPr/>
          <p:nvPr/>
        </p:nvSpPr>
        <p:spPr>
          <a:xfrm>
            <a:off x="6546960" y="343368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2" name="Text 28"/>
          <p:cNvSpPr/>
          <p:nvPr/>
        </p:nvSpPr>
        <p:spPr>
          <a:xfrm>
            <a:off x="6821280" y="3314880"/>
            <a:ext cx="435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Dotação inicial por ação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29"/>
          <p:cNvSpPr/>
          <p:nvPr/>
        </p:nvSpPr>
        <p:spPr>
          <a:xfrm>
            <a:off x="6546960" y="374904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4" name="Text 30"/>
          <p:cNvSpPr/>
          <p:nvPr/>
        </p:nvSpPr>
        <p:spPr>
          <a:xfrm>
            <a:off x="6821280" y="3630240"/>
            <a:ext cx="435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Unidade orçamentária e gestora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31"/>
          <p:cNvSpPr/>
          <p:nvPr/>
        </p:nvSpPr>
        <p:spPr>
          <a:xfrm>
            <a:off x="6546960" y="406440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6" name="Text 32"/>
          <p:cNvSpPr/>
          <p:nvPr/>
        </p:nvSpPr>
        <p:spPr>
          <a:xfrm>
            <a:off x="6821280" y="3945600"/>
            <a:ext cx="435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Função e subfunção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33"/>
          <p:cNvSpPr/>
          <p:nvPr/>
        </p:nvSpPr>
        <p:spPr>
          <a:xfrm>
            <a:off x="6546960" y="438012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8" name="Text 34"/>
          <p:cNvSpPr/>
          <p:nvPr/>
        </p:nvSpPr>
        <p:spPr>
          <a:xfrm>
            <a:off x="6821280" y="4260960"/>
            <a:ext cx="435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Natureza da despesa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35"/>
          <p:cNvSpPr/>
          <p:nvPr/>
        </p:nvSpPr>
        <p:spPr>
          <a:xfrm>
            <a:off x="6546960" y="469548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0" name="Text 36"/>
          <p:cNvSpPr/>
          <p:nvPr/>
        </p:nvSpPr>
        <p:spPr>
          <a:xfrm>
            <a:off x="6821280" y="4576680"/>
            <a:ext cx="4352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Fonte ou destinação de recurso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37"/>
          <p:cNvSpPr/>
          <p:nvPr/>
        </p:nvSpPr>
        <p:spPr>
          <a:xfrm>
            <a:off x="640080" y="5047560"/>
            <a:ext cx="10881000" cy="1142640"/>
          </a:xfrm>
          <a:prstGeom prst="roundRect">
            <a:avLst>
              <a:gd name="adj" fmla="val 4800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2" name="Text 38"/>
          <p:cNvSpPr/>
          <p:nvPr/>
        </p:nvSpPr>
        <p:spPr>
          <a:xfrm>
            <a:off x="932760" y="5212080"/>
            <a:ext cx="1029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ffffff"/>
                </a:solidFill>
                <a:latin typeface="Cambria"/>
                <a:ea typeface="Cambria"/>
              </a:rPr>
              <a:t>A regra de conciliação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39"/>
          <p:cNvSpPr/>
          <p:nvPr/>
        </p:nvSpPr>
        <p:spPr>
          <a:xfrm>
            <a:off x="932760" y="5577840"/>
            <a:ext cx="1029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c3d2e0"/>
                </a:solidFill>
                <a:latin typeface="Calibri"/>
                <a:ea typeface="Calibri"/>
              </a:rPr>
              <a:t>Mesmo código de programa e de ação nas duas leis — é esse par que as amarra. Somadas as quatro LOAs do ciclo, os valores devem reconciliar com o previsto no plano. Ação sem dotação, ou dotação sem correspondência no PPA, vira exceção registrada.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40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4.1.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41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4.2 · FASE 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Como o dado é tratado antes de virar análise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2"/>
          <p:cNvSpPr/>
          <p:nvPr/>
        </p:nvSpPr>
        <p:spPr>
          <a:xfrm>
            <a:off x="640080" y="1554480"/>
            <a:ext cx="10881000" cy="10512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9" name="Text 3"/>
          <p:cNvSpPr/>
          <p:nvPr/>
        </p:nvSpPr>
        <p:spPr>
          <a:xfrm>
            <a:off x="960120" y="171900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0f2a44"/>
                </a:solidFill>
                <a:latin typeface="Cambria"/>
                <a:ea typeface="Cambria"/>
              </a:rPr>
              <a:t>Texto preservado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4"/>
          <p:cNvSpPr/>
          <p:nvPr/>
        </p:nvSpPr>
        <p:spPr>
          <a:xfrm>
            <a:off x="4023360" y="1719000"/>
            <a:ext cx="7223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374b5e"/>
                </a:solidFill>
                <a:latin typeface="Calibri"/>
                <a:ea typeface="Calibri"/>
              </a:rPr>
              <a:t>O objetivo e a finalidade são guardados na íntegra, sem resumo automático. É esse texto que a fase 4 usa como régua.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5"/>
          <p:cNvSpPr/>
          <p:nvPr/>
        </p:nvSpPr>
        <p:spPr>
          <a:xfrm>
            <a:off x="640080" y="2788920"/>
            <a:ext cx="10881000" cy="10512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2" name="Text 6"/>
          <p:cNvSpPr/>
          <p:nvPr/>
        </p:nvSpPr>
        <p:spPr>
          <a:xfrm>
            <a:off x="960120" y="29534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0f2a44"/>
                </a:solidFill>
                <a:latin typeface="Cambria"/>
                <a:ea typeface="Cambria"/>
              </a:rPr>
              <a:t>Unidade normalizada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7"/>
          <p:cNvSpPr/>
          <p:nvPr/>
        </p:nvSpPr>
        <p:spPr>
          <a:xfrm>
            <a:off x="4023360" y="2953440"/>
            <a:ext cx="7223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374b5e"/>
                </a:solidFill>
                <a:latin typeface="Calibri"/>
                <a:ea typeface="Calibri"/>
              </a:rPr>
              <a:t>Quilômetro, atendimento, unidade construída, beneficiário: tudo convertido para uma referência única por programa. Sem isso, não há custo unitário.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8"/>
          <p:cNvSpPr/>
          <p:nvPr/>
        </p:nvSpPr>
        <p:spPr>
          <a:xfrm>
            <a:off x="640080" y="4023360"/>
            <a:ext cx="10881000" cy="10512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5" name="Text 9"/>
          <p:cNvSpPr/>
          <p:nvPr/>
        </p:nvSpPr>
        <p:spPr>
          <a:xfrm>
            <a:off x="960120" y="418788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0f2a44"/>
                </a:solidFill>
                <a:latin typeface="Cambria"/>
                <a:ea typeface="Cambria"/>
              </a:rPr>
              <a:t>Código padronizado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10"/>
          <p:cNvSpPr/>
          <p:nvPr/>
        </p:nvSpPr>
        <p:spPr>
          <a:xfrm>
            <a:off x="4023360" y="4187880"/>
            <a:ext cx="7223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374b5e"/>
                </a:solidFill>
                <a:latin typeface="Calibri"/>
                <a:ea typeface="Calibri"/>
              </a:rPr>
              <a:t>Denominações e códigos passam por padronização e deduplicação, mantendo sempre o valor original ao lado do tratado.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11"/>
          <p:cNvSpPr/>
          <p:nvPr/>
        </p:nvSpPr>
        <p:spPr>
          <a:xfrm>
            <a:off x="640080" y="5257800"/>
            <a:ext cx="10881000" cy="868320"/>
          </a:xfrm>
          <a:prstGeom prst="roundRect">
            <a:avLst>
              <a:gd name="adj" fmla="val 6316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8" name="Text 12"/>
          <p:cNvSpPr/>
          <p:nvPr/>
        </p:nvSpPr>
        <p:spPr>
          <a:xfrm>
            <a:off x="932760" y="5422320"/>
            <a:ext cx="1029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ffffff"/>
                </a:solidFill>
                <a:latin typeface="Cambria"/>
                <a:ea typeface="Cambria"/>
              </a:rPr>
              <a:t>Regra de rastreabilidade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13"/>
          <p:cNvSpPr/>
          <p:nvPr/>
        </p:nvSpPr>
        <p:spPr>
          <a:xfrm>
            <a:off x="932760" y="5788080"/>
            <a:ext cx="1029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c3d2e0"/>
                </a:solidFill>
                <a:latin typeface="Calibri"/>
                <a:ea typeface="Calibri"/>
              </a:rPr>
              <a:t>Todo campo extraído carrega a identificação do documento de origem, a página ou o registro e a data da extração. Nenhum número aparece no painel sem essa referência.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14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4.2.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15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5 · FASE 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O que é extraído da execução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2"/>
          <p:cNvSpPr/>
          <p:nvPr/>
        </p:nvSpPr>
        <p:spPr>
          <a:xfrm>
            <a:off x="640080" y="141732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5c6e80"/>
                </a:solidFill>
                <a:latin typeface="Calibri"/>
                <a:ea typeface="Calibri"/>
              </a:rPr>
              <a:t>Objetivo: apurar o que foi efetivamente realizado, com foco na liquidação.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3"/>
          <p:cNvSpPr/>
          <p:nvPr/>
        </p:nvSpPr>
        <p:spPr>
          <a:xfrm>
            <a:off x="640080" y="1920240"/>
            <a:ext cx="3428640" cy="320004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6" name="Text 4"/>
          <p:cNvSpPr/>
          <p:nvPr/>
        </p:nvSpPr>
        <p:spPr>
          <a:xfrm>
            <a:off x="914400" y="212148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900" spc="-1" strike="noStrike">
                <a:solidFill>
                  <a:srgbClr val="0f2a44"/>
                </a:solidFill>
                <a:latin typeface="Cambria"/>
                <a:ea typeface="Cambria"/>
              </a:rPr>
              <a:t>Empenho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5"/>
          <p:cNvSpPr/>
          <p:nvPr/>
        </p:nvSpPr>
        <p:spPr>
          <a:xfrm>
            <a:off x="951120" y="269748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8" name="Text 6"/>
          <p:cNvSpPr/>
          <p:nvPr/>
        </p:nvSpPr>
        <p:spPr>
          <a:xfrm>
            <a:off x="1225440" y="2578680"/>
            <a:ext cx="2614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Número e data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7"/>
          <p:cNvSpPr/>
          <p:nvPr/>
        </p:nvSpPr>
        <p:spPr>
          <a:xfrm>
            <a:off x="951120" y="308160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0" name="Text 8"/>
          <p:cNvSpPr/>
          <p:nvPr/>
        </p:nvSpPr>
        <p:spPr>
          <a:xfrm>
            <a:off x="1225440" y="2962800"/>
            <a:ext cx="2614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Valor empenhado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9"/>
          <p:cNvSpPr/>
          <p:nvPr/>
        </p:nvSpPr>
        <p:spPr>
          <a:xfrm>
            <a:off x="951120" y="346572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2" name="Text 10"/>
          <p:cNvSpPr/>
          <p:nvPr/>
        </p:nvSpPr>
        <p:spPr>
          <a:xfrm>
            <a:off x="1225440" y="3346560"/>
            <a:ext cx="2614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Credor e CNPJ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11"/>
          <p:cNvSpPr/>
          <p:nvPr/>
        </p:nvSpPr>
        <p:spPr>
          <a:xfrm>
            <a:off x="951120" y="384948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4" name="Text 12"/>
          <p:cNvSpPr/>
          <p:nvPr/>
        </p:nvSpPr>
        <p:spPr>
          <a:xfrm>
            <a:off x="1225440" y="3730680"/>
            <a:ext cx="2614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Unidade gestora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13"/>
          <p:cNvSpPr/>
          <p:nvPr/>
        </p:nvSpPr>
        <p:spPr>
          <a:xfrm>
            <a:off x="951120" y="423360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6" name="Text 14"/>
          <p:cNvSpPr/>
          <p:nvPr/>
        </p:nvSpPr>
        <p:spPr>
          <a:xfrm>
            <a:off x="1225440" y="4114800"/>
            <a:ext cx="2614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Elemento de despesa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15"/>
          <p:cNvSpPr/>
          <p:nvPr/>
        </p:nvSpPr>
        <p:spPr>
          <a:xfrm>
            <a:off x="951120" y="461772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8" name="Text 16"/>
          <p:cNvSpPr/>
          <p:nvPr/>
        </p:nvSpPr>
        <p:spPr>
          <a:xfrm>
            <a:off x="1225440" y="4498920"/>
            <a:ext cx="2614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Ação vinculada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17"/>
          <p:cNvSpPr/>
          <p:nvPr/>
        </p:nvSpPr>
        <p:spPr>
          <a:xfrm>
            <a:off x="4132800" y="3474720"/>
            <a:ext cx="201240" cy="360"/>
          </a:xfrm>
          <a:prstGeom prst="line">
            <a:avLst/>
          </a:prstGeom>
          <a:ln w="22225">
            <a:solidFill>
              <a:srgbClr val="8f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0" name="Shape 18"/>
          <p:cNvSpPr/>
          <p:nvPr/>
        </p:nvSpPr>
        <p:spPr>
          <a:xfrm>
            <a:off x="4343400" y="1920240"/>
            <a:ext cx="3428640" cy="3200040"/>
          </a:xfrm>
          <a:prstGeom prst="roundRect">
            <a:avLst>
              <a:gd name="adj" fmla="val 1714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1" name="Text 19"/>
          <p:cNvSpPr/>
          <p:nvPr/>
        </p:nvSpPr>
        <p:spPr>
          <a:xfrm>
            <a:off x="4617720" y="212148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900" spc="-1" strike="noStrike">
                <a:solidFill>
                  <a:srgbClr val="ffffff"/>
                </a:solidFill>
                <a:latin typeface="Cambria"/>
                <a:ea typeface="Cambria"/>
              </a:rPr>
              <a:t>Liquidação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20"/>
          <p:cNvSpPr/>
          <p:nvPr/>
        </p:nvSpPr>
        <p:spPr>
          <a:xfrm>
            <a:off x="4654440" y="269748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9cd8d2"/>
          </a:solidFill>
          <a:ln w="12700">
            <a:solidFill>
              <a:srgbClr val="9cd8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3" name="Text 21"/>
          <p:cNvSpPr/>
          <p:nvPr/>
        </p:nvSpPr>
        <p:spPr>
          <a:xfrm>
            <a:off x="4928760" y="2578680"/>
            <a:ext cx="2614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c3d2e0"/>
                </a:solidFill>
                <a:latin typeface="Calibri"/>
                <a:ea typeface="Calibri"/>
              </a:rPr>
              <a:t>Número e data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22"/>
          <p:cNvSpPr/>
          <p:nvPr/>
        </p:nvSpPr>
        <p:spPr>
          <a:xfrm>
            <a:off x="4654440" y="308160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9cd8d2"/>
          </a:solidFill>
          <a:ln w="12700">
            <a:solidFill>
              <a:srgbClr val="9cd8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5" name="Text 23"/>
          <p:cNvSpPr/>
          <p:nvPr/>
        </p:nvSpPr>
        <p:spPr>
          <a:xfrm>
            <a:off x="4928760" y="2962800"/>
            <a:ext cx="2614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c3d2e0"/>
                </a:solidFill>
                <a:latin typeface="Calibri"/>
                <a:ea typeface="Calibri"/>
              </a:rPr>
              <a:t>Valor liquidado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24"/>
          <p:cNvSpPr/>
          <p:nvPr/>
        </p:nvSpPr>
        <p:spPr>
          <a:xfrm>
            <a:off x="4654440" y="346572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9cd8d2"/>
          </a:solidFill>
          <a:ln w="12700">
            <a:solidFill>
              <a:srgbClr val="9cd8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7" name="Text 25"/>
          <p:cNvSpPr/>
          <p:nvPr/>
        </p:nvSpPr>
        <p:spPr>
          <a:xfrm>
            <a:off x="4928760" y="3346560"/>
            <a:ext cx="2614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c3d2e0"/>
                </a:solidFill>
                <a:latin typeface="Calibri"/>
                <a:ea typeface="Calibri"/>
              </a:rPr>
              <a:t>Quantidade e unidade do documento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26"/>
          <p:cNvSpPr/>
          <p:nvPr/>
        </p:nvSpPr>
        <p:spPr>
          <a:xfrm>
            <a:off x="4654440" y="384948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9cd8d2"/>
          </a:solidFill>
          <a:ln w="12700">
            <a:solidFill>
              <a:srgbClr val="9cd8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9" name="Text 27"/>
          <p:cNvSpPr/>
          <p:nvPr/>
        </p:nvSpPr>
        <p:spPr>
          <a:xfrm>
            <a:off x="4928760" y="3730680"/>
            <a:ext cx="2614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c3d2e0"/>
                </a:solidFill>
                <a:latin typeface="Calibri"/>
                <a:ea typeface="Calibri"/>
              </a:rPr>
              <a:t>Documento comprobatório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28"/>
          <p:cNvSpPr/>
          <p:nvPr/>
        </p:nvSpPr>
        <p:spPr>
          <a:xfrm>
            <a:off x="4654440" y="423360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9cd8d2"/>
          </a:solidFill>
          <a:ln w="12700">
            <a:solidFill>
              <a:srgbClr val="9cd8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1" name="Text 29"/>
          <p:cNvSpPr/>
          <p:nvPr/>
        </p:nvSpPr>
        <p:spPr>
          <a:xfrm>
            <a:off x="4928760" y="4114800"/>
            <a:ext cx="2614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c3d2e0"/>
                </a:solidFill>
                <a:latin typeface="Calibri"/>
                <a:ea typeface="Calibri"/>
              </a:rPr>
              <a:t>Empenho de origem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30"/>
          <p:cNvSpPr/>
          <p:nvPr/>
        </p:nvSpPr>
        <p:spPr>
          <a:xfrm>
            <a:off x="4654440" y="461772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9cd8d2"/>
          </a:solidFill>
          <a:ln w="12700">
            <a:solidFill>
              <a:srgbClr val="9cd8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3" name="Text 31"/>
          <p:cNvSpPr/>
          <p:nvPr/>
        </p:nvSpPr>
        <p:spPr>
          <a:xfrm>
            <a:off x="4928760" y="4498920"/>
            <a:ext cx="2614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c3d2e0"/>
                </a:solidFill>
                <a:latin typeface="Calibri"/>
                <a:ea typeface="Calibri"/>
              </a:rPr>
              <a:t>Descrição da despesa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32"/>
          <p:cNvSpPr/>
          <p:nvPr/>
        </p:nvSpPr>
        <p:spPr>
          <a:xfrm>
            <a:off x="7836120" y="3474720"/>
            <a:ext cx="201240" cy="360"/>
          </a:xfrm>
          <a:prstGeom prst="line">
            <a:avLst/>
          </a:prstGeom>
          <a:ln w="22225">
            <a:solidFill>
              <a:srgbClr val="8f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5" name="Shape 33"/>
          <p:cNvSpPr/>
          <p:nvPr/>
        </p:nvSpPr>
        <p:spPr>
          <a:xfrm>
            <a:off x="8046720" y="1920240"/>
            <a:ext cx="3428640" cy="320004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6" name="Text 34"/>
          <p:cNvSpPr/>
          <p:nvPr/>
        </p:nvSpPr>
        <p:spPr>
          <a:xfrm>
            <a:off x="8321040" y="212148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900" spc="-1" strike="noStrike">
                <a:solidFill>
                  <a:srgbClr val="0f2a44"/>
                </a:solidFill>
                <a:latin typeface="Cambria"/>
                <a:ea typeface="Cambria"/>
              </a:rPr>
              <a:t>Pagamento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35"/>
          <p:cNvSpPr/>
          <p:nvPr/>
        </p:nvSpPr>
        <p:spPr>
          <a:xfrm>
            <a:off x="8357760" y="269748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8" name="Text 36"/>
          <p:cNvSpPr/>
          <p:nvPr/>
        </p:nvSpPr>
        <p:spPr>
          <a:xfrm>
            <a:off x="8632080" y="2578680"/>
            <a:ext cx="2614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Número e data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37"/>
          <p:cNvSpPr/>
          <p:nvPr/>
        </p:nvSpPr>
        <p:spPr>
          <a:xfrm>
            <a:off x="8357760" y="308160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0" name="Text 38"/>
          <p:cNvSpPr/>
          <p:nvPr/>
        </p:nvSpPr>
        <p:spPr>
          <a:xfrm>
            <a:off x="8632080" y="2962800"/>
            <a:ext cx="2614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Valor pago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39"/>
          <p:cNvSpPr/>
          <p:nvPr/>
        </p:nvSpPr>
        <p:spPr>
          <a:xfrm>
            <a:off x="8357760" y="346572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2" name="Text 40"/>
          <p:cNvSpPr/>
          <p:nvPr/>
        </p:nvSpPr>
        <p:spPr>
          <a:xfrm>
            <a:off x="8632080" y="3346560"/>
            <a:ext cx="2614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Liquidação de origem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41"/>
          <p:cNvSpPr/>
          <p:nvPr/>
        </p:nvSpPr>
        <p:spPr>
          <a:xfrm>
            <a:off x="8357760" y="384948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4" name="Text 42"/>
          <p:cNvSpPr/>
          <p:nvPr/>
        </p:nvSpPr>
        <p:spPr>
          <a:xfrm>
            <a:off x="8632080" y="3730680"/>
            <a:ext cx="2614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Contrato e aditivos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43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5.1.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44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5.2 · FASE 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Por que a liquidação é o marco do custo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2"/>
          <p:cNvSpPr/>
          <p:nvPr/>
        </p:nvSpPr>
        <p:spPr>
          <a:xfrm>
            <a:off x="640080" y="1554480"/>
            <a:ext cx="10881000" cy="111528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0" name="Shape 3"/>
          <p:cNvSpPr/>
          <p:nvPr/>
        </p:nvSpPr>
        <p:spPr>
          <a:xfrm>
            <a:off x="960120" y="2011680"/>
            <a:ext cx="182520" cy="182520"/>
          </a:xfrm>
          <a:prstGeom prst="roundRect">
            <a:avLst>
              <a:gd name="adj" fmla="val 250000"/>
            </a:avLst>
          </a:prstGeom>
          <a:solidFill>
            <a:srgbClr val="a33b3b"/>
          </a:solidFill>
          <a:ln w="12700">
            <a:solidFill>
              <a:srgbClr val="a33b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1" name="Text 4"/>
          <p:cNvSpPr/>
          <p:nvPr/>
        </p:nvSpPr>
        <p:spPr>
          <a:xfrm>
            <a:off x="1325880" y="171900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f2a44"/>
                </a:solidFill>
                <a:latin typeface="Cambria"/>
                <a:ea typeface="Cambria"/>
              </a:rPr>
              <a:t>Empenho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5"/>
          <p:cNvSpPr/>
          <p:nvPr/>
        </p:nvSpPr>
        <p:spPr>
          <a:xfrm>
            <a:off x="1325880" y="212148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200" spc="-1" strike="noStrike">
                <a:solidFill>
                  <a:srgbClr val="5c6e80"/>
                </a:solidFill>
                <a:latin typeface="Calibri"/>
                <a:ea typeface="Calibri"/>
              </a:rPr>
              <a:t>Reserva de dotação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6"/>
          <p:cNvSpPr/>
          <p:nvPr/>
        </p:nvSpPr>
        <p:spPr>
          <a:xfrm>
            <a:off x="4114800" y="1737360"/>
            <a:ext cx="7131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374b5e"/>
                </a:solidFill>
                <a:latin typeface="Calibri"/>
                <a:ea typeface="Calibri"/>
              </a:rPr>
              <a:t>Pode ser cancelado ou anulado. Mede compromisso, não despesa realizada. Usar empenho superestima o custo.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7"/>
          <p:cNvSpPr/>
          <p:nvPr/>
        </p:nvSpPr>
        <p:spPr>
          <a:xfrm>
            <a:off x="640080" y="2853000"/>
            <a:ext cx="10881000" cy="1115280"/>
          </a:xfrm>
          <a:prstGeom prst="roundRect">
            <a:avLst>
              <a:gd name="adj" fmla="val 4918"/>
            </a:avLst>
          </a:prstGeom>
          <a:solidFill>
            <a:srgbClr val="f4f7fa"/>
          </a:solidFill>
          <a:ln w="25400">
            <a:solidFill>
              <a:srgbClr val="0e7f76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5" name="Shape 8"/>
          <p:cNvSpPr/>
          <p:nvPr/>
        </p:nvSpPr>
        <p:spPr>
          <a:xfrm>
            <a:off x="960120" y="3310200"/>
            <a:ext cx="182520" cy="182520"/>
          </a:xfrm>
          <a:prstGeom prst="roundRect">
            <a:avLst>
              <a:gd name="adj" fmla="val 250000"/>
            </a:avLst>
          </a:prstGeom>
          <a:solidFill>
            <a:srgbClr val="2e7d5b"/>
          </a:solidFill>
          <a:ln w="12700">
            <a:solidFill>
              <a:srgbClr val="2e7d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6" name="Text 9"/>
          <p:cNvSpPr/>
          <p:nvPr/>
        </p:nvSpPr>
        <p:spPr>
          <a:xfrm>
            <a:off x="1325880" y="301752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f2a44"/>
                </a:solidFill>
                <a:latin typeface="Cambria"/>
                <a:ea typeface="Cambria"/>
              </a:rPr>
              <a:t>Liquidação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10"/>
          <p:cNvSpPr/>
          <p:nvPr/>
        </p:nvSpPr>
        <p:spPr>
          <a:xfrm>
            <a:off x="1325880" y="34200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200" spc="-1" strike="noStrike">
                <a:solidFill>
                  <a:srgbClr val="5c6e80"/>
                </a:solidFill>
                <a:latin typeface="Calibri"/>
                <a:ea typeface="Calibri"/>
              </a:rPr>
              <a:t>Despesa reconhecida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11"/>
          <p:cNvSpPr/>
          <p:nvPr/>
        </p:nvSpPr>
        <p:spPr>
          <a:xfrm>
            <a:off x="4114800" y="3035880"/>
            <a:ext cx="7131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374b5e"/>
                </a:solidFill>
                <a:latin typeface="Calibri"/>
                <a:ea typeface="Calibri"/>
              </a:rPr>
              <a:t>A obrigação foi verificada e o direito do credor apurado. É a medida mais fiel do custo incorrido no período.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12"/>
          <p:cNvSpPr/>
          <p:nvPr/>
        </p:nvSpPr>
        <p:spPr>
          <a:xfrm>
            <a:off x="640080" y="4151520"/>
            <a:ext cx="10881000" cy="111528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0" name="Shape 13"/>
          <p:cNvSpPr/>
          <p:nvPr/>
        </p:nvSpPr>
        <p:spPr>
          <a:xfrm>
            <a:off x="960120" y="4608720"/>
            <a:ext cx="182520" cy="182520"/>
          </a:xfrm>
          <a:prstGeom prst="roundRect">
            <a:avLst>
              <a:gd name="adj" fmla="val 250000"/>
            </a:avLst>
          </a:prstGeom>
          <a:solidFill>
            <a:srgbClr val="a33b3b"/>
          </a:solidFill>
          <a:ln w="12700">
            <a:solidFill>
              <a:srgbClr val="a33b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1" name="Text 14"/>
          <p:cNvSpPr/>
          <p:nvPr/>
        </p:nvSpPr>
        <p:spPr>
          <a:xfrm>
            <a:off x="1325880" y="431604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f2a44"/>
                </a:solidFill>
                <a:latin typeface="Cambria"/>
                <a:ea typeface="Cambria"/>
              </a:rPr>
              <a:t>Pagamento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15"/>
          <p:cNvSpPr/>
          <p:nvPr/>
        </p:nvSpPr>
        <p:spPr>
          <a:xfrm>
            <a:off x="1325880" y="47181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200" spc="-1" strike="noStrike">
                <a:solidFill>
                  <a:srgbClr val="5c6e80"/>
                </a:solidFill>
                <a:latin typeface="Calibri"/>
                <a:ea typeface="Calibri"/>
              </a:rPr>
              <a:t>Saída de caixa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16"/>
          <p:cNvSpPr/>
          <p:nvPr/>
        </p:nvSpPr>
        <p:spPr>
          <a:xfrm>
            <a:off x="4114800" y="4334400"/>
            <a:ext cx="7131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374b5e"/>
                </a:solidFill>
                <a:latin typeface="Calibri"/>
                <a:ea typeface="Calibri"/>
              </a:rPr>
              <a:t>Chega defasado em relação ao fato gerador. Usar pagamento distorce a análise temporal e subestima o exercício.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17"/>
          <p:cNvSpPr/>
          <p:nvPr/>
        </p:nvSpPr>
        <p:spPr>
          <a:xfrm>
            <a:off x="640080" y="5422320"/>
            <a:ext cx="10881000" cy="749520"/>
          </a:xfrm>
          <a:prstGeom prst="roundRect">
            <a:avLst>
              <a:gd name="adj" fmla="val 7317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5" name="Text 18"/>
          <p:cNvSpPr/>
          <p:nvPr/>
        </p:nvSpPr>
        <p:spPr>
          <a:xfrm>
            <a:off x="932760" y="5422320"/>
            <a:ext cx="1029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Consolidação e restos a pagar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19"/>
          <p:cNvSpPr/>
          <p:nvPr/>
        </p:nvSpPr>
        <p:spPr>
          <a:xfrm>
            <a:off x="932760" y="5952600"/>
            <a:ext cx="10295640" cy="6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A execução é consolidada por ação, período e fonte de recurso. Restos a pagar recebem tratamento em série separada, para não contaminar o custo do exercício corrente. Empenho e pagamento permanecem no painel como camadas complementares de análise.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20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seções 5.2 e 5.3.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21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10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7fb6ae"/>
                </a:solidFill>
                <a:latin typeface="Calibri"/>
                <a:ea typeface="Calibri"/>
              </a:rPr>
              <a:t>SEÇÃO 6 · FASE 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400" spc="-1" strike="noStrike">
                <a:solidFill>
                  <a:srgbClr val="ffffff"/>
                </a:solidFill>
                <a:latin typeface="Cambria"/>
                <a:ea typeface="Cambria"/>
              </a:rPr>
              <a:t>A apuração do custo do programa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2"/>
          <p:cNvSpPr/>
          <p:nvPr/>
        </p:nvSpPr>
        <p:spPr>
          <a:xfrm>
            <a:off x="640080" y="1645920"/>
            <a:ext cx="9692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550" spc="-1" strike="noStrike">
                <a:solidFill>
                  <a:srgbClr val="b9c8d6"/>
                </a:solidFill>
                <a:latin typeface="Calibri"/>
                <a:ea typeface="Calibri"/>
              </a:rPr>
              <a:t>Não é um cruzamento, são dois — feitos em paralelo. O plano prevê duas metas, e a liquidação devolve duas medidas: quanto foi gasto e quanto foi entregue.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Shape 3"/>
          <p:cNvSpPr/>
          <p:nvPr/>
        </p:nvSpPr>
        <p:spPr>
          <a:xfrm>
            <a:off x="822960" y="2468880"/>
            <a:ext cx="10515240" cy="987120"/>
          </a:xfrm>
          <a:prstGeom prst="roundRect">
            <a:avLst>
              <a:gd name="adj" fmla="val 5556"/>
            </a:avLst>
          </a:prstGeom>
          <a:solidFill>
            <a:srgbClr val="17385a"/>
          </a:solidFill>
          <a:ln w="12700">
            <a:solidFill>
              <a:srgbClr val="2c54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3" name="Text 4"/>
          <p:cNvSpPr/>
          <p:nvPr/>
        </p:nvSpPr>
        <p:spPr>
          <a:xfrm>
            <a:off x="1097280" y="261504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ffffff"/>
                </a:solidFill>
                <a:latin typeface="Cambria"/>
                <a:ea typeface="Cambria"/>
              </a:rPr>
              <a:t>Meta física prevista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5"/>
          <p:cNvSpPr/>
          <p:nvPr/>
        </p:nvSpPr>
        <p:spPr>
          <a:xfrm>
            <a:off x="1097280" y="294444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9cc7c1"/>
                </a:solidFill>
                <a:latin typeface="Calibri"/>
                <a:ea typeface="Calibri"/>
              </a:rPr>
              <a:t>no PPA e na LDO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6"/>
          <p:cNvSpPr/>
          <p:nvPr/>
        </p:nvSpPr>
        <p:spPr>
          <a:xfrm>
            <a:off x="4069080" y="272484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rgbClr val="7fb6ae"/>
                </a:solidFill>
                <a:latin typeface="Cambria"/>
                <a:ea typeface="Cambria"/>
              </a:rPr>
              <a:t>×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7"/>
          <p:cNvSpPr/>
          <p:nvPr/>
        </p:nvSpPr>
        <p:spPr>
          <a:xfrm>
            <a:off x="4572000" y="261504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ffffff"/>
                </a:solidFill>
                <a:latin typeface="Cambria"/>
                <a:ea typeface="Cambria"/>
              </a:rPr>
              <a:t>Quantidade apurada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8"/>
          <p:cNvSpPr/>
          <p:nvPr/>
        </p:nvSpPr>
        <p:spPr>
          <a:xfrm>
            <a:off x="4572000" y="294444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9cc7c1"/>
                </a:solidFill>
                <a:latin typeface="Calibri"/>
                <a:ea typeface="Calibri"/>
              </a:rPr>
              <a:t>na liquidação: nota fiscal, boletim de medição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9"/>
          <p:cNvSpPr/>
          <p:nvPr/>
        </p:nvSpPr>
        <p:spPr>
          <a:xfrm>
            <a:off x="8549640" y="272484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7fb6ae"/>
                </a:solidFill>
                <a:latin typeface="Cambria"/>
                <a:ea typeface="Cambria"/>
              </a:rPr>
              <a:t>→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10"/>
          <p:cNvSpPr/>
          <p:nvPr/>
        </p:nvSpPr>
        <p:spPr>
          <a:xfrm>
            <a:off x="9006840" y="2615040"/>
            <a:ext cx="2194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50" spc="-1" strike="noStrike">
                <a:solidFill>
                  <a:srgbClr val="6fd0c4"/>
                </a:solidFill>
                <a:latin typeface="Cambria"/>
                <a:ea typeface="Cambria"/>
              </a:rPr>
              <a:t>Execução da entrega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Shape 11"/>
          <p:cNvSpPr/>
          <p:nvPr/>
        </p:nvSpPr>
        <p:spPr>
          <a:xfrm>
            <a:off x="822960" y="3639240"/>
            <a:ext cx="10515240" cy="987120"/>
          </a:xfrm>
          <a:prstGeom prst="roundRect">
            <a:avLst>
              <a:gd name="adj" fmla="val 5556"/>
            </a:avLst>
          </a:prstGeom>
          <a:solidFill>
            <a:srgbClr val="17385a"/>
          </a:solidFill>
          <a:ln w="12700">
            <a:solidFill>
              <a:srgbClr val="2c54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1" name="Text 12"/>
          <p:cNvSpPr/>
          <p:nvPr/>
        </p:nvSpPr>
        <p:spPr>
          <a:xfrm>
            <a:off x="1097280" y="378576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ffffff"/>
                </a:solidFill>
                <a:latin typeface="Cambria"/>
                <a:ea typeface="Cambria"/>
              </a:rPr>
              <a:t>Meta financeira prevista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13"/>
          <p:cNvSpPr/>
          <p:nvPr/>
        </p:nvSpPr>
        <p:spPr>
          <a:xfrm>
            <a:off x="1097280" y="411480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9cc7c1"/>
                </a:solidFill>
                <a:latin typeface="Calibri"/>
                <a:ea typeface="Calibri"/>
              </a:rPr>
              <a:t>no PPA e na LOA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14"/>
          <p:cNvSpPr/>
          <p:nvPr/>
        </p:nvSpPr>
        <p:spPr>
          <a:xfrm>
            <a:off x="4069080" y="389520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rgbClr val="7fb6ae"/>
                </a:solidFill>
                <a:latin typeface="Cambria"/>
                <a:ea typeface="Cambria"/>
              </a:rPr>
              <a:t>×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15"/>
          <p:cNvSpPr/>
          <p:nvPr/>
        </p:nvSpPr>
        <p:spPr>
          <a:xfrm>
            <a:off x="4572000" y="378576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ffffff"/>
                </a:solidFill>
                <a:latin typeface="Cambria"/>
                <a:ea typeface="Cambria"/>
              </a:rPr>
              <a:t>Valor liquidado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16"/>
          <p:cNvSpPr/>
          <p:nvPr/>
        </p:nvSpPr>
        <p:spPr>
          <a:xfrm>
            <a:off x="4572000" y="411480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9cc7c1"/>
                </a:solidFill>
                <a:latin typeface="Calibri"/>
                <a:ea typeface="Calibri"/>
              </a:rPr>
              <a:t>despesa reconhecida no período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17"/>
          <p:cNvSpPr/>
          <p:nvPr/>
        </p:nvSpPr>
        <p:spPr>
          <a:xfrm>
            <a:off x="8549640" y="389520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7fb6ae"/>
                </a:solidFill>
                <a:latin typeface="Cambria"/>
                <a:ea typeface="Cambria"/>
              </a:rPr>
              <a:t>→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18"/>
          <p:cNvSpPr/>
          <p:nvPr/>
        </p:nvSpPr>
        <p:spPr>
          <a:xfrm>
            <a:off x="9006840" y="3785760"/>
            <a:ext cx="2194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50" spc="-1" strike="noStrike">
                <a:solidFill>
                  <a:srgbClr val="6fd0c4"/>
                </a:solidFill>
                <a:latin typeface="Cambria"/>
                <a:ea typeface="Cambria"/>
              </a:rPr>
              <a:t>Execução financeira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19"/>
          <p:cNvSpPr/>
          <p:nvPr/>
        </p:nvSpPr>
        <p:spPr>
          <a:xfrm>
            <a:off x="822960" y="4892040"/>
            <a:ext cx="10515240" cy="868320"/>
          </a:xfrm>
          <a:prstGeom prst="roundRect">
            <a:avLst>
              <a:gd name="adj" fmla="val 6316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9" name="Text 20"/>
          <p:cNvSpPr/>
          <p:nvPr/>
        </p:nvSpPr>
        <p:spPr>
          <a:xfrm>
            <a:off x="1097280" y="5029200"/>
            <a:ext cx="2194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ffffff"/>
                </a:solidFill>
                <a:latin typeface="Cambria"/>
                <a:ea typeface="Cambria"/>
              </a:rPr>
              <a:t>As duas juntas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21"/>
          <p:cNvSpPr/>
          <p:nvPr/>
        </p:nvSpPr>
        <p:spPr>
          <a:xfrm>
            <a:off x="3291840" y="5029200"/>
            <a:ext cx="7863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dcedeb"/>
                </a:solidFill>
                <a:latin typeface="Calibri"/>
                <a:ea typeface="Calibri"/>
              </a:rPr>
              <a:t>valor liquidado ÷ quantidade entregue = custo de cada unidade, comparado ao que o plano previa gastar por unidade.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22"/>
          <p:cNvSpPr/>
          <p:nvPr/>
        </p:nvSpPr>
        <p:spPr>
          <a:xfrm>
            <a:off x="640080" y="59893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b9c8d6"/>
                </a:solidFill>
                <a:latin typeface="Calibri"/>
                <a:ea typeface="Calibri"/>
              </a:rPr>
              <a:t>Nas páginas seguintes: o que a inteligência artificial resolve, os indicadores gerados, um exemplo do cálculo e os alertas automáticos.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6.1 · FASE 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Por que não é uma divisão simples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2"/>
          <p:cNvSpPr/>
          <p:nvPr/>
        </p:nvSpPr>
        <p:spPr>
          <a:xfrm>
            <a:off x="640080" y="141732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5c6e80"/>
                </a:solidFill>
                <a:latin typeface="Calibri"/>
                <a:ea typeface="Calibri"/>
              </a:rPr>
              <a:t>O cruzamento exige decisões que uma fórmula não toma sozinha. É aqui que a análise semântica trabalha.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3"/>
          <p:cNvSpPr/>
          <p:nvPr/>
        </p:nvSpPr>
        <p:spPr>
          <a:xfrm>
            <a:off x="640080" y="1920240"/>
            <a:ext cx="5211720" cy="1782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6" name="Shape 4"/>
          <p:cNvSpPr/>
          <p:nvPr/>
        </p:nvSpPr>
        <p:spPr>
          <a:xfrm>
            <a:off x="914400" y="2176200"/>
            <a:ext cx="310680" cy="310680"/>
          </a:xfrm>
          <a:prstGeom prst="roundRect">
            <a:avLst>
              <a:gd name="adj" fmla="val 147059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7" name="Text 5"/>
          <p:cNvSpPr/>
          <p:nvPr/>
        </p:nvSpPr>
        <p:spPr>
          <a:xfrm>
            <a:off x="914400" y="2176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6"/>
          <p:cNvSpPr/>
          <p:nvPr/>
        </p:nvSpPr>
        <p:spPr>
          <a:xfrm>
            <a:off x="1353240" y="213984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Mesma meta, redações diferentes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7"/>
          <p:cNvSpPr/>
          <p:nvPr/>
        </p:nvSpPr>
        <p:spPr>
          <a:xfrm>
            <a:off x="932760" y="2633400"/>
            <a:ext cx="4663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"Unidade de saúde mantida" e "manutenção de UBS" são a mesma entrega escrita de dois jeitos, em exercícios ou órgãos diferentes. Sem reconhecer isso, a série histórica quebra.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8"/>
          <p:cNvSpPr/>
          <p:nvPr/>
        </p:nvSpPr>
        <p:spPr>
          <a:xfrm>
            <a:off x="6217920" y="1920240"/>
            <a:ext cx="5211720" cy="1782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1" name="Shape 9"/>
          <p:cNvSpPr/>
          <p:nvPr/>
        </p:nvSpPr>
        <p:spPr>
          <a:xfrm>
            <a:off x="6492240" y="2176200"/>
            <a:ext cx="310680" cy="310680"/>
          </a:xfrm>
          <a:prstGeom prst="roundRect">
            <a:avLst>
              <a:gd name="adj" fmla="val 147059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2" name="Text 10"/>
          <p:cNvSpPr/>
          <p:nvPr/>
        </p:nvSpPr>
        <p:spPr>
          <a:xfrm>
            <a:off x="6492240" y="2176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11"/>
          <p:cNvSpPr/>
          <p:nvPr/>
        </p:nvSpPr>
        <p:spPr>
          <a:xfrm>
            <a:off x="6931080" y="213984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Unidade da nota ≠ unidade da meta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12"/>
          <p:cNvSpPr/>
          <p:nvPr/>
        </p:nvSpPr>
        <p:spPr>
          <a:xfrm>
            <a:off x="6510600" y="2633400"/>
            <a:ext cx="4663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A meta é "km pavimentado", mas a nota fiscal traz toneladas de asfalto e metros quadrados de imprimação. Converter, buscar o boletim de medição ou declarar a quantidade indisponível — a decisão fica registrada.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13"/>
          <p:cNvSpPr/>
          <p:nvPr/>
        </p:nvSpPr>
        <p:spPr>
          <a:xfrm>
            <a:off x="640080" y="3931920"/>
            <a:ext cx="5211720" cy="1782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6" name="Shape 14"/>
          <p:cNvSpPr/>
          <p:nvPr/>
        </p:nvSpPr>
        <p:spPr>
          <a:xfrm>
            <a:off x="914400" y="4187880"/>
            <a:ext cx="310680" cy="310680"/>
          </a:xfrm>
          <a:prstGeom prst="roundRect">
            <a:avLst>
              <a:gd name="adj" fmla="val 147059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7" name="Text 15"/>
          <p:cNvSpPr/>
          <p:nvPr/>
        </p:nvSpPr>
        <p:spPr>
          <a:xfrm>
            <a:off x="914400" y="41878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16"/>
          <p:cNvSpPr/>
          <p:nvPr/>
        </p:nvSpPr>
        <p:spPr>
          <a:xfrm>
            <a:off x="1353240" y="415152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Despesa que serve a mais de uma ação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17"/>
          <p:cNvSpPr/>
          <p:nvPr/>
        </p:nvSpPr>
        <p:spPr>
          <a:xfrm>
            <a:off x="932760" y="4645080"/>
            <a:ext cx="4663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Uma liquidação de combustível pode atender transporte escolar e vigilância sanitária. É preciso propor critério de rateio — e registrá-lo.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18"/>
          <p:cNvSpPr/>
          <p:nvPr/>
        </p:nvSpPr>
        <p:spPr>
          <a:xfrm>
            <a:off x="6217920" y="3931920"/>
            <a:ext cx="5211720" cy="1782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1" name="Shape 19"/>
          <p:cNvSpPr/>
          <p:nvPr/>
        </p:nvSpPr>
        <p:spPr>
          <a:xfrm>
            <a:off x="6492240" y="4187880"/>
            <a:ext cx="310680" cy="310680"/>
          </a:xfrm>
          <a:prstGeom prst="roundRect">
            <a:avLst>
              <a:gd name="adj" fmla="val 147059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2" name="Text 20"/>
          <p:cNvSpPr/>
          <p:nvPr/>
        </p:nvSpPr>
        <p:spPr>
          <a:xfrm>
            <a:off x="6492240" y="41878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21"/>
          <p:cNvSpPr/>
          <p:nvPr/>
        </p:nvSpPr>
        <p:spPr>
          <a:xfrm>
            <a:off x="6931080" y="415152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Descrição incompatível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22"/>
          <p:cNvSpPr/>
          <p:nvPr/>
        </p:nvSpPr>
        <p:spPr>
          <a:xfrm>
            <a:off x="6510600" y="4645080"/>
            <a:ext cx="4663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Liquidação cuja descrição não guarda relação com o produto da ação a que está vinculada é sinalizada antes mesmo do cálculo.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23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6.1.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24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12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6.2 · FASE 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Os indicadores e como são calculados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2"/>
          <p:cNvSpPr/>
          <p:nvPr/>
        </p:nvSpPr>
        <p:spPr>
          <a:xfrm>
            <a:off x="640080" y="1554480"/>
            <a:ext cx="2651400" cy="3837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0" name="Text 3"/>
          <p:cNvSpPr/>
          <p:nvPr/>
        </p:nvSpPr>
        <p:spPr>
          <a:xfrm>
            <a:off x="749880" y="1554480"/>
            <a:ext cx="2431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Calibri"/>
                <a:ea typeface="Calibri"/>
              </a:rPr>
              <a:t>Indicador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4"/>
          <p:cNvSpPr/>
          <p:nvPr/>
        </p:nvSpPr>
        <p:spPr>
          <a:xfrm>
            <a:off x="3291840" y="1554480"/>
            <a:ext cx="4205880" cy="3837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2" name="Text 5"/>
          <p:cNvSpPr/>
          <p:nvPr/>
        </p:nvSpPr>
        <p:spPr>
          <a:xfrm>
            <a:off x="3401640" y="1554480"/>
            <a:ext cx="3986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Calibri"/>
                <a:ea typeface="Calibri"/>
              </a:rPr>
              <a:t>Fórmula ou critério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6"/>
          <p:cNvSpPr/>
          <p:nvPr/>
        </p:nvSpPr>
        <p:spPr>
          <a:xfrm>
            <a:off x="7498080" y="1554480"/>
            <a:ext cx="4023000" cy="3837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4" name="Text 7"/>
          <p:cNvSpPr/>
          <p:nvPr/>
        </p:nvSpPr>
        <p:spPr>
          <a:xfrm>
            <a:off x="7607880" y="1554480"/>
            <a:ext cx="3803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Calibri"/>
                <a:ea typeface="Calibri"/>
              </a:rPr>
              <a:t>O que a leitura responde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8"/>
          <p:cNvSpPr/>
          <p:nvPr/>
        </p:nvSpPr>
        <p:spPr>
          <a:xfrm>
            <a:off x="640080" y="1938600"/>
            <a:ext cx="2651400" cy="5025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6" name="Text 9"/>
          <p:cNvSpPr/>
          <p:nvPr/>
        </p:nvSpPr>
        <p:spPr>
          <a:xfrm>
            <a:off x="749880" y="1938600"/>
            <a:ext cx="2431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Custo do programa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10"/>
          <p:cNvSpPr/>
          <p:nvPr/>
        </p:nvSpPr>
        <p:spPr>
          <a:xfrm>
            <a:off x="3291840" y="1938600"/>
            <a:ext cx="4205880" cy="5025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8" name="Text 11"/>
          <p:cNvSpPr/>
          <p:nvPr/>
        </p:nvSpPr>
        <p:spPr>
          <a:xfrm>
            <a:off x="3401640" y="1938600"/>
            <a:ext cx="3986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0e7f76"/>
                </a:solidFill>
                <a:latin typeface="Calibri"/>
                <a:ea typeface="Calibri"/>
              </a:rPr>
              <a:t>Soma das liquidações das ações vinculadas ao programa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12"/>
          <p:cNvSpPr/>
          <p:nvPr/>
        </p:nvSpPr>
        <p:spPr>
          <a:xfrm>
            <a:off x="7498080" y="1938600"/>
            <a:ext cx="4023000" cy="5025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0" name="Text 13"/>
          <p:cNvSpPr/>
          <p:nvPr/>
        </p:nvSpPr>
        <p:spPr>
          <a:xfrm>
            <a:off x="7607880" y="1938600"/>
            <a:ext cx="380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Quanto o programa consumiu no período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14"/>
          <p:cNvSpPr/>
          <p:nvPr/>
        </p:nvSpPr>
        <p:spPr>
          <a:xfrm>
            <a:off x="640080" y="2441520"/>
            <a:ext cx="2651400" cy="50256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2" name="Text 15"/>
          <p:cNvSpPr/>
          <p:nvPr/>
        </p:nvSpPr>
        <p:spPr>
          <a:xfrm>
            <a:off x="749880" y="2441520"/>
            <a:ext cx="2431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Execução da meta física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16"/>
          <p:cNvSpPr/>
          <p:nvPr/>
        </p:nvSpPr>
        <p:spPr>
          <a:xfrm>
            <a:off x="3291840" y="2441520"/>
            <a:ext cx="4205880" cy="50256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4" name="Text 17"/>
          <p:cNvSpPr/>
          <p:nvPr/>
        </p:nvSpPr>
        <p:spPr>
          <a:xfrm>
            <a:off x="3401640" y="2441520"/>
            <a:ext cx="3986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0e7f76"/>
                </a:solidFill>
                <a:latin typeface="Calibri"/>
                <a:ea typeface="Calibri"/>
              </a:rPr>
              <a:t>Quantidade liquidada ÷ meta física prevista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18"/>
          <p:cNvSpPr/>
          <p:nvPr/>
        </p:nvSpPr>
        <p:spPr>
          <a:xfrm>
            <a:off x="7498080" y="2441520"/>
            <a:ext cx="4023000" cy="50256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6" name="Text 19"/>
          <p:cNvSpPr/>
          <p:nvPr/>
        </p:nvSpPr>
        <p:spPr>
          <a:xfrm>
            <a:off x="7607880" y="2441520"/>
            <a:ext cx="380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Quanto da entrega prometida foi realizado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20"/>
          <p:cNvSpPr/>
          <p:nvPr/>
        </p:nvSpPr>
        <p:spPr>
          <a:xfrm>
            <a:off x="640080" y="2944440"/>
            <a:ext cx="2651400" cy="5025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8" name="Text 21"/>
          <p:cNvSpPr/>
          <p:nvPr/>
        </p:nvSpPr>
        <p:spPr>
          <a:xfrm>
            <a:off x="749880" y="2944440"/>
            <a:ext cx="2431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Custo unitário apurado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22"/>
          <p:cNvSpPr/>
          <p:nvPr/>
        </p:nvSpPr>
        <p:spPr>
          <a:xfrm>
            <a:off x="3291840" y="2944440"/>
            <a:ext cx="4205880" cy="5025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0" name="Text 23"/>
          <p:cNvSpPr/>
          <p:nvPr/>
        </p:nvSpPr>
        <p:spPr>
          <a:xfrm>
            <a:off x="3401640" y="2944440"/>
            <a:ext cx="3986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0e7f76"/>
                </a:solidFill>
                <a:latin typeface="Calibri"/>
                <a:ea typeface="Calibri"/>
              </a:rPr>
              <a:t>Valor liquidado ÷ quantidade liquidada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24"/>
          <p:cNvSpPr/>
          <p:nvPr/>
        </p:nvSpPr>
        <p:spPr>
          <a:xfrm>
            <a:off x="7498080" y="2944440"/>
            <a:ext cx="4023000" cy="5025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2" name="Text 25"/>
          <p:cNvSpPr/>
          <p:nvPr/>
        </p:nvSpPr>
        <p:spPr>
          <a:xfrm>
            <a:off x="7607880" y="2944440"/>
            <a:ext cx="380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Quanto custou cada unidade efetivamente entregue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26"/>
          <p:cNvSpPr/>
          <p:nvPr/>
        </p:nvSpPr>
        <p:spPr>
          <a:xfrm>
            <a:off x="640080" y="3447360"/>
            <a:ext cx="2651400" cy="50256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4" name="Text 27"/>
          <p:cNvSpPr/>
          <p:nvPr/>
        </p:nvSpPr>
        <p:spPr>
          <a:xfrm>
            <a:off x="749880" y="3447360"/>
            <a:ext cx="2431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Custo unitário planejado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28"/>
          <p:cNvSpPr/>
          <p:nvPr/>
        </p:nvSpPr>
        <p:spPr>
          <a:xfrm>
            <a:off x="3291840" y="3447360"/>
            <a:ext cx="4205880" cy="50256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6" name="Text 29"/>
          <p:cNvSpPr/>
          <p:nvPr/>
        </p:nvSpPr>
        <p:spPr>
          <a:xfrm>
            <a:off x="3401640" y="3447360"/>
            <a:ext cx="3986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0e7f76"/>
                </a:solidFill>
                <a:latin typeface="Calibri"/>
                <a:ea typeface="Calibri"/>
              </a:rPr>
              <a:t>Meta financeira ÷ meta física prevista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30"/>
          <p:cNvSpPr/>
          <p:nvPr/>
        </p:nvSpPr>
        <p:spPr>
          <a:xfrm>
            <a:off x="7498080" y="3447360"/>
            <a:ext cx="4023000" cy="50256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8" name="Text 31"/>
          <p:cNvSpPr/>
          <p:nvPr/>
        </p:nvSpPr>
        <p:spPr>
          <a:xfrm>
            <a:off x="7607880" y="3447360"/>
            <a:ext cx="380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Quanto se previa gastar por unidade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32"/>
          <p:cNvSpPr/>
          <p:nvPr/>
        </p:nvSpPr>
        <p:spPr>
          <a:xfrm>
            <a:off x="640080" y="3950280"/>
            <a:ext cx="2651400" cy="5025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0" name="Text 33"/>
          <p:cNvSpPr/>
          <p:nvPr/>
        </p:nvSpPr>
        <p:spPr>
          <a:xfrm>
            <a:off x="749880" y="3950280"/>
            <a:ext cx="2431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Desvio de custo unitário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34"/>
          <p:cNvSpPr/>
          <p:nvPr/>
        </p:nvSpPr>
        <p:spPr>
          <a:xfrm>
            <a:off x="3291840" y="3950280"/>
            <a:ext cx="4205880" cy="5025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2" name="Text 35"/>
          <p:cNvSpPr/>
          <p:nvPr/>
        </p:nvSpPr>
        <p:spPr>
          <a:xfrm>
            <a:off x="3401640" y="3950280"/>
            <a:ext cx="3986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0e7f76"/>
                </a:solidFill>
                <a:latin typeface="Calibri"/>
                <a:ea typeface="Calibri"/>
              </a:rPr>
              <a:t>Custo apurado ÷ custo planejado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36"/>
          <p:cNvSpPr/>
          <p:nvPr/>
        </p:nvSpPr>
        <p:spPr>
          <a:xfrm>
            <a:off x="7498080" y="3950280"/>
            <a:ext cx="4023000" cy="5025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4" name="Text 37"/>
          <p:cNvSpPr/>
          <p:nvPr/>
        </p:nvSpPr>
        <p:spPr>
          <a:xfrm>
            <a:off x="7607880" y="3950280"/>
            <a:ext cx="380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Sobrecusto acima de 1; economia abaixo de 1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38"/>
          <p:cNvSpPr/>
          <p:nvPr/>
        </p:nvSpPr>
        <p:spPr>
          <a:xfrm>
            <a:off x="640080" y="4453200"/>
            <a:ext cx="2651400" cy="50256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6" name="Text 39"/>
          <p:cNvSpPr/>
          <p:nvPr/>
        </p:nvSpPr>
        <p:spPr>
          <a:xfrm>
            <a:off x="749880" y="4453200"/>
            <a:ext cx="2431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Ritmo de execução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40"/>
          <p:cNvSpPr/>
          <p:nvPr/>
        </p:nvSpPr>
        <p:spPr>
          <a:xfrm>
            <a:off x="3291840" y="4453200"/>
            <a:ext cx="4205880" cy="50256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8" name="Text 41"/>
          <p:cNvSpPr/>
          <p:nvPr/>
        </p:nvSpPr>
        <p:spPr>
          <a:xfrm>
            <a:off x="3401640" y="4453200"/>
            <a:ext cx="3986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0e7f76"/>
                </a:solidFill>
                <a:latin typeface="Calibri"/>
                <a:ea typeface="Calibri"/>
              </a:rPr>
              <a:t>Liquidação acumulada ÷ meta financeira anual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42"/>
          <p:cNvSpPr/>
          <p:nvPr/>
        </p:nvSpPr>
        <p:spPr>
          <a:xfrm>
            <a:off x="7498080" y="4453200"/>
            <a:ext cx="4023000" cy="50256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0" name="Text 43"/>
          <p:cNvSpPr/>
          <p:nvPr/>
        </p:nvSpPr>
        <p:spPr>
          <a:xfrm>
            <a:off x="7607880" y="4453200"/>
            <a:ext cx="380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Risco de não executar dentro do exercício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44"/>
          <p:cNvSpPr/>
          <p:nvPr/>
        </p:nvSpPr>
        <p:spPr>
          <a:xfrm>
            <a:off x="640080" y="5120640"/>
            <a:ext cx="10881000" cy="959760"/>
          </a:xfrm>
          <a:prstGeom prst="roundRect">
            <a:avLst>
              <a:gd name="adj" fmla="val 5714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2" name="Text 45"/>
          <p:cNvSpPr/>
          <p:nvPr/>
        </p:nvSpPr>
        <p:spPr>
          <a:xfrm>
            <a:off x="932760" y="5285160"/>
            <a:ext cx="1029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Uma advertência sobre o desvio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46"/>
          <p:cNvSpPr/>
          <p:nvPr/>
        </p:nvSpPr>
        <p:spPr>
          <a:xfrm>
            <a:off x="932760" y="5650920"/>
            <a:ext cx="1029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Sobrecusto não é sobrepreço nem superfaturamento. O indicador diz onde a diferença é grande o bastante para merecer explicação — e a explicação pode ser inteiramente legítima: insumo que encareceu, escopo revisado, condição de execução mais difícil.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47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6.2.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48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13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6.2 · FASE 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O cálculo, passo a passo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2"/>
          <p:cNvSpPr/>
          <p:nvPr/>
        </p:nvSpPr>
        <p:spPr>
          <a:xfrm>
            <a:off x="8686800" y="384120"/>
            <a:ext cx="2834280" cy="310680"/>
          </a:xfrm>
          <a:prstGeom prst="roundRect">
            <a:avLst>
              <a:gd name="adj" fmla="val 14706"/>
            </a:avLst>
          </a:prstGeom>
          <a:solidFill>
            <a:srgbClr val="fbf3e3"/>
          </a:solidFill>
          <a:ln w="12700">
            <a:solidFill>
              <a:srgbClr val="e7cf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9" name="Text 3"/>
          <p:cNvSpPr/>
          <p:nvPr/>
        </p:nvSpPr>
        <p:spPr>
          <a:xfrm>
            <a:off x="8686800" y="384120"/>
            <a:ext cx="2834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b9791c"/>
                </a:solidFill>
                <a:latin typeface="Calibri"/>
                <a:ea typeface="Calibri"/>
              </a:rPr>
              <a:t>EXEMPLO ILUSTRATIVO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4"/>
          <p:cNvSpPr/>
          <p:nvPr/>
        </p:nvSpPr>
        <p:spPr>
          <a:xfrm>
            <a:off x="640080" y="137160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5c6e80"/>
                </a:solidFill>
                <a:latin typeface="Calibri"/>
                <a:ea typeface="Calibri"/>
              </a:rPr>
              <a:t>Ação de pavimentação asfáltica, valores fictícios, apenas para acompanhar o encadeamento.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5"/>
          <p:cNvSpPr/>
          <p:nvPr/>
        </p:nvSpPr>
        <p:spPr>
          <a:xfrm>
            <a:off x="640080" y="1874520"/>
            <a:ext cx="2514240" cy="292572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0e7f76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2" name="Shape 6"/>
          <p:cNvSpPr/>
          <p:nvPr/>
        </p:nvSpPr>
        <p:spPr>
          <a:xfrm>
            <a:off x="914400" y="2103120"/>
            <a:ext cx="328680" cy="328680"/>
          </a:xfrm>
          <a:prstGeom prst="roundRect">
            <a:avLst>
              <a:gd name="adj" fmla="val 138889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3" name="Text 7"/>
          <p:cNvSpPr/>
          <p:nvPr/>
        </p:nvSpPr>
        <p:spPr>
          <a:xfrm>
            <a:off x="914400" y="21031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8"/>
          <p:cNvSpPr/>
          <p:nvPr/>
        </p:nvSpPr>
        <p:spPr>
          <a:xfrm>
            <a:off x="1353240" y="208476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48" strike="noStrike">
                <a:solidFill>
                  <a:srgbClr val="0e7f76"/>
                </a:solidFill>
                <a:latin typeface="Calibri"/>
                <a:ea typeface="Calibri"/>
              </a:rPr>
              <a:t>No PPA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9"/>
          <p:cNvSpPr/>
          <p:nvPr/>
        </p:nvSpPr>
        <p:spPr>
          <a:xfrm>
            <a:off x="914400" y="2633400"/>
            <a:ext cx="2057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Meta física: 12 km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Meta financeira: R$ 9.800.000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10"/>
          <p:cNvSpPr/>
          <p:nvPr/>
        </p:nvSpPr>
        <p:spPr>
          <a:xfrm>
            <a:off x="914400" y="3611880"/>
            <a:ext cx="2011320" cy="9597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7" name="Text 11"/>
          <p:cNvSpPr/>
          <p:nvPr/>
        </p:nvSpPr>
        <p:spPr>
          <a:xfrm>
            <a:off x="1024200" y="3703320"/>
            <a:ext cx="1828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0f2a44"/>
                </a:solidFill>
                <a:latin typeface="Calibri"/>
                <a:ea typeface="Calibri"/>
              </a:rPr>
              <a:t>Custo unitário planejado: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0f2a44"/>
                </a:solidFill>
                <a:latin typeface="Calibri"/>
                <a:ea typeface="Calibri"/>
              </a:rPr>
              <a:t>R$ 816.667 por km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12"/>
          <p:cNvSpPr/>
          <p:nvPr/>
        </p:nvSpPr>
        <p:spPr>
          <a:xfrm>
            <a:off x="3218400" y="3291840"/>
            <a:ext cx="146520" cy="360"/>
          </a:xfrm>
          <a:prstGeom prst="line">
            <a:avLst/>
          </a:prstGeom>
          <a:ln w="22225">
            <a:solidFill>
              <a:srgbClr val="8f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9" name="Shape 13"/>
          <p:cNvSpPr/>
          <p:nvPr/>
        </p:nvSpPr>
        <p:spPr>
          <a:xfrm>
            <a:off x="3429000" y="1874520"/>
            <a:ext cx="2514240" cy="292572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0e7f76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0" name="Shape 14"/>
          <p:cNvSpPr/>
          <p:nvPr/>
        </p:nvSpPr>
        <p:spPr>
          <a:xfrm>
            <a:off x="3703320" y="2103120"/>
            <a:ext cx="328680" cy="328680"/>
          </a:xfrm>
          <a:prstGeom prst="roundRect">
            <a:avLst>
              <a:gd name="adj" fmla="val 138889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1" name="Text 15"/>
          <p:cNvSpPr/>
          <p:nvPr/>
        </p:nvSpPr>
        <p:spPr>
          <a:xfrm>
            <a:off x="3703320" y="21031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16"/>
          <p:cNvSpPr/>
          <p:nvPr/>
        </p:nvSpPr>
        <p:spPr>
          <a:xfrm>
            <a:off x="4142160" y="208476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48" strike="noStrike">
                <a:solidFill>
                  <a:srgbClr val="0e7f76"/>
                </a:solidFill>
                <a:latin typeface="Calibri"/>
                <a:ea typeface="Calibri"/>
              </a:rPr>
              <a:t>Na execução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17"/>
          <p:cNvSpPr/>
          <p:nvPr/>
        </p:nvSpPr>
        <p:spPr>
          <a:xfrm>
            <a:off x="3703320" y="2633400"/>
            <a:ext cx="2057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Liquidado no período: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R$ 7.350.000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18"/>
          <p:cNvSpPr/>
          <p:nvPr/>
        </p:nvSpPr>
        <p:spPr>
          <a:xfrm>
            <a:off x="3703320" y="3611880"/>
            <a:ext cx="2011320" cy="9597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5" name="Text 19"/>
          <p:cNvSpPr/>
          <p:nvPr/>
        </p:nvSpPr>
        <p:spPr>
          <a:xfrm>
            <a:off x="3813120" y="3703320"/>
            <a:ext cx="1828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0f2a44"/>
                </a:solidFill>
                <a:latin typeface="Calibri"/>
                <a:ea typeface="Calibri"/>
              </a:rPr>
              <a:t>Execução financeira: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0f2a44"/>
                </a:solidFill>
                <a:latin typeface="Calibri"/>
                <a:ea typeface="Calibri"/>
              </a:rPr>
              <a:t>75% da meta financeira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20"/>
          <p:cNvSpPr/>
          <p:nvPr/>
        </p:nvSpPr>
        <p:spPr>
          <a:xfrm>
            <a:off x="6007320" y="3291840"/>
            <a:ext cx="146520" cy="360"/>
          </a:xfrm>
          <a:prstGeom prst="line">
            <a:avLst/>
          </a:prstGeom>
          <a:ln w="22225">
            <a:solidFill>
              <a:srgbClr val="8f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7" name="Shape 21"/>
          <p:cNvSpPr/>
          <p:nvPr/>
        </p:nvSpPr>
        <p:spPr>
          <a:xfrm>
            <a:off x="6217920" y="1874520"/>
            <a:ext cx="2514240" cy="292572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b9791c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8" name="Shape 22"/>
          <p:cNvSpPr/>
          <p:nvPr/>
        </p:nvSpPr>
        <p:spPr>
          <a:xfrm>
            <a:off x="6492240" y="2103120"/>
            <a:ext cx="328680" cy="328680"/>
          </a:xfrm>
          <a:prstGeom prst="roundRect">
            <a:avLst>
              <a:gd name="adj" fmla="val 138889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9" name="Text 23"/>
          <p:cNvSpPr/>
          <p:nvPr/>
        </p:nvSpPr>
        <p:spPr>
          <a:xfrm>
            <a:off x="6492240" y="21031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24"/>
          <p:cNvSpPr/>
          <p:nvPr/>
        </p:nvSpPr>
        <p:spPr>
          <a:xfrm>
            <a:off x="6931080" y="208476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48" strike="noStrike">
                <a:solidFill>
                  <a:srgbClr val="b9791c"/>
                </a:solidFill>
                <a:latin typeface="Calibri"/>
                <a:ea typeface="Calibri"/>
              </a:rPr>
              <a:t>Na entrega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25"/>
          <p:cNvSpPr/>
          <p:nvPr/>
        </p:nvSpPr>
        <p:spPr>
          <a:xfrm>
            <a:off x="6492240" y="2633400"/>
            <a:ext cx="2057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Quantidade nas liquidações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(boletins de medição): 8 km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26"/>
          <p:cNvSpPr/>
          <p:nvPr/>
        </p:nvSpPr>
        <p:spPr>
          <a:xfrm>
            <a:off x="6492240" y="3611880"/>
            <a:ext cx="2011320" cy="9597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3" name="Text 27"/>
          <p:cNvSpPr/>
          <p:nvPr/>
        </p:nvSpPr>
        <p:spPr>
          <a:xfrm>
            <a:off x="6602040" y="3703320"/>
            <a:ext cx="1828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0f2a44"/>
                </a:solidFill>
                <a:latin typeface="Calibri"/>
                <a:ea typeface="Calibri"/>
              </a:rPr>
              <a:t>Execução da meta física: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0f2a44"/>
                </a:solidFill>
                <a:latin typeface="Calibri"/>
                <a:ea typeface="Calibri"/>
              </a:rPr>
              <a:t>66,7% do prometido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28"/>
          <p:cNvSpPr/>
          <p:nvPr/>
        </p:nvSpPr>
        <p:spPr>
          <a:xfrm>
            <a:off x="8796240" y="3291840"/>
            <a:ext cx="146520" cy="360"/>
          </a:xfrm>
          <a:prstGeom prst="line">
            <a:avLst/>
          </a:prstGeom>
          <a:ln w="22225">
            <a:solidFill>
              <a:srgbClr val="8f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5" name="Shape 29"/>
          <p:cNvSpPr/>
          <p:nvPr/>
        </p:nvSpPr>
        <p:spPr>
          <a:xfrm>
            <a:off x="9006840" y="1874520"/>
            <a:ext cx="2514240" cy="292572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b9791c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6" name="Shape 30"/>
          <p:cNvSpPr/>
          <p:nvPr/>
        </p:nvSpPr>
        <p:spPr>
          <a:xfrm>
            <a:off x="9281160" y="2103120"/>
            <a:ext cx="328680" cy="328680"/>
          </a:xfrm>
          <a:prstGeom prst="roundRect">
            <a:avLst>
              <a:gd name="adj" fmla="val 138889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7" name="Text 31"/>
          <p:cNvSpPr/>
          <p:nvPr/>
        </p:nvSpPr>
        <p:spPr>
          <a:xfrm>
            <a:off x="9281160" y="21031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 32"/>
          <p:cNvSpPr/>
          <p:nvPr/>
        </p:nvSpPr>
        <p:spPr>
          <a:xfrm>
            <a:off x="9720000" y="208476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48" strike="noStrike">
                <a:solidFill>
                  <a:srgbClr val="b9791c"/>
                </a:solidFill>
                <a:latin typeface="Calibri"/>
                <a:ea typeface="Calibri"/>
              </a:rPr>
              <a:t>No cruzamento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33"/>
          <p:cNvSpPr/>
          <p:nvPr/>
        </p:nvSpPr>
        <p:spPr>
          <a:xfrm>
            <a:off x="9281160" y="2633400"/>
            <a:ext cx="2057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Custo unitário apurado: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R$ 918.750 por km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34"/>
          <p:cNvSpPr/>
          <p:nvPr/>
        </p:nvSpPr>
        <p:spPr>
          <a:xfrm>
            <a:off x="9281160" y="3611880"/>
            <a:ext cx="2011320" cy="9597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1" name="Text 35"/>
          <p:cNvSpPr/>
          <p:nvPr/>
        </p:nvSpPr>
        <p:spPr>
          <a:xfrm>
            <a:off x="9390960" y="3703320"/>
            <a:ext cx="1828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0f2a44"/>
                </a:solidFill>
                <a:latin typeface="Calibri"/>
                <a:ea typeface="Calibri"/>
              </a:rPr>
              <a:t>Desvio: 1,13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0f2a44"/>
                </a:solidFill>
                <a:latin typeface="Calibri"/>
                <a:ea typeface="Calibri"/>
              </a:rPr>
              <a:t>sobrecusto de 13%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36"/>
          <p:cNvSpPr/>
          <p:nvPr/>
        </p:nvSpPr>
        <p:spPr>
          <a:xfrm>
            <a:off x="640080" y="5029200"/>
            <a:ext cx="10881000" cy="959760"/>
          </a:xfrm>
          <a:prstGeom prst="roundRect">
            <a:avLst>
              <a:gd name="adj" fmla="val 5714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3" name="Text 37"/>
          <p:cNvSpPr/>
          <p:nvPr/>
        </p:nvSpPr>
        <p:spPr>
          <a:xfrm>
            <a:off x="932760" y="5193720"/>
            <a:ext cx="1029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O que o gestor vê no painel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 38"/>
          <p:cNvSpPr/>
          <p:nvPr/>
        </p:nvSpPr>
        <p:spPr>
          <a:xfrm>
            <a:off x="932760" y="5559480"/>
            <a:ext cx="1029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A ação entregou 8 dos 12 km prometidos, consumindo 75% do previsto. Cada quilômetro saiu 13% acima do planejado. Nenhum desses três números, sozinho, contava a história — é o cruzamento que a revela.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 39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6.2.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 40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14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6.1 · FASE 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Quando a despesa serve a mais de uma ação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 2"/>
          <p:cNvSpPr/>
          <p:nvPr/>
        </p:nvSpPr>
        <p:spPr>
          <a:xfrm>
            <a:off x="640080" y="141732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5c6e80"/>
                </a:solidFill>
                <a:latin typeface="Calibri"/>
                <a:ea typeface="Calibri"/>
              </a:rPr>
              <a:t>O caso mais delicado da apuração. A regra é explicitar o critério, nunca distribuir em silêncio.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3"/>
          <p:cNvSpPr/>
          <p:nvPr/>
        </p:nvSpPr>
        <p:spPr>
          <a:xfrm>
            <a:off x="640080" y="1920240"/>
            <a:ext cx="3200040" cy="1371240"/>
          </a:xfrm>
          <a:prstGeom prst="roundRect">
            <a:avLst>
              <a:gd name="adj" fmla="val 4000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1" name="Text 4"/>
          <p:cNvSpPr/>
          <p:nvPr/>
        </p:nvSpPr>
        <p:spPr>
          <a:xfrm>
            <a:off x="868680" y="21304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0f2a44"/>
                </a:solidFill>
                <a:latin typeface="Cambria"/>
                <a:ea typeface="Cambria"/>
              </a:rPr>
              <a:t>Uma liquidação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5"/>
          <p:cNvSpPr/>
          <p:nvPr/>
        </p:nvSpPr>
        <p:spPr>
          <a:xfrm>
            <a:off x="868680" y="2468880"/>
            <a:ext cx="2742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Combustível da frota municipal, contrato único, valor total no período.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6"/>
          <p:cNvSpPr/>
          <p:nvPr/>
        </p:nvSpPr>
        <p:spPr>
          <a:xfrm>
            <a:off x="3977640" y="2606040"/>
            <a:ext cx="457200" cy="360"/>
          </a:xfrm>
          <a:prstGeom prst="line">
            <a:avLst/>
          </a:prstGeom>
          <a:ln w="22225">
            <a:solidFill>
              <a:srgbClr val="8f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4" name="Shape 7"/>
          <p:cNvSpPr/>
          <p:nvPr/>
        </p:nvSpPr>
        <p:spPr>
          <a:xfrm>
            <a:off x="4663440" y="1783080"/>
            <a:ext cx="3200040" cy="56664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5" name="Text 8"/>
          <p:cNvSpPr/>
          <p:nvPr/>
        </p:nvSpPr>
        <p:spPr>
          <a:xfrm>
            <a:off x="4864680" y="1837800"/>
            <a:ext cx="2834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0f2a44"/>
                </a:solidFill>
                <a:latin typeface="Calibri"/>
                <a:ea typeface="Calibri"/>
              </a:rPr>
              <a:t>Transporte escolar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 9"/>
          <p:cNvSpPr/>
          <p:nvPr/>
        </p:nvSpPr>
        <p:spPr>
          <a:xfrm>
            <a:off x="4864680" y="207576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ação com meta física própria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10"/>
          <p:cNvSpPr/>
          <p:nvPr/>
        </p:nvSpPr>
        <p:spPr>
          <a:xfrm>
            <a:off x="4663440" y="2468880"/>
            <a:ext cx="3200040" cy="56664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8" name="Text 11"/>
          <p:cNvSpPr/>
          <p:nvPr/>
        </p:nvSpPr>
        <p:spPr>
          <a:xfrm>
            <a:off x="4864680" y="2523600"/>
            <a:ext cx="2834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0f2a44"/>
                </a:solidFill>
                <a:latin typeface="Calibri"/>
                <a:ea typeface="Calibri"/>
              </a:rPr>
              <a:t>Vigilância sanitária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12"/>
          <p:cNvSpPr/>
          <p:nvPr/>
        </p:nvSpPr>
        <p:spPr>
          <a:xfrm>
            <a:off x="4864680" y="276156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ação com meta física própria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13"/>
          <p:cNvSpPr/>
          <p:nvPr/>
        </p:nvSpPr>
        <p:spPr>
          <a:xfrm>
            <a:off x="4663440" y="3154680"/>
            <a:ext cx="3200040" cy="56664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1" name="Text 14"/>
          <p:cNvSpPr/>
          <p:nvPr/>
        </p:nvSpPr>
        <p:spPr>
          <a:xfrm>
            <a:off x="4864680" y="3209400"/>
            <a:ext cx="2834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0f2a44"/>
                </a:solidFill>
                <a:latin typeface="Calibri"/>
                <a:ea typeface="Calibri"/>
              </a:rPr>
              <a:t>Gestão administrativa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 15"/>
          <p:cNvSpPr/>
          <p:nvPr/>
        </p:nvSpPr>
        <p:spPr>
          <a:xfrm>
            <a:off x="4864680" y="344736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ação sem produto mensurável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16"/>
          <p:cNvSpPr/>
          <p:nvPr/>
        </p:nvSpPr>
        <p:spPr>
          <a:xfrm>
            <a:off x="8229600" y="1783080"/>
            <a:ext cx="3291480" cy="1965600"/>
          </a:xfrm>
          <a:prstGeom prst="roundRect">
            <a:avLst>
              <a:gd name="adj" fmla="val 2791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4" name="Text 17"/>
          <p:cNvSpPr/>
          <p:nvPr/>
        </p:nvSpPr>
        <p:spPr>
          <a:xfrm>
            <a:off x="8485560" y="196596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ffffff"/>
                </a:solidFill>
                <a:latin typeface="Cambria"/>
                <a:ea typeface="Cambria"/>
              </a:rPr>
              <a:t>O que fica registrado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18"/>
          <p:cNvSpPr/>
          <p:nvPr/>
        </p:nvSpPr>
        <p:spPr>
          <a:xfrm>
            <a:off x="8522280" y="245052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5fa9a0"/>
          </a:solidFill>
          <a:ln w="12700">
            <a:solidFill>
              <a:srgbClr val="5fa9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6" name="Text 19"/>
          <p:cNvSpPr/>
          <p:nvPr/>
        </p:nvSpPr>
        <p:spPr>
          <a:xfrm>
            <a:off x="8796600" y="2331720"/>
            <a:ext cx="252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c3d2e0"/>
                </a:solidFill>
                <a:latin typeface="Calibri"/>
                <a:ea typeface="Calibri"/>
              </a:rPr>
              <a:t>O critério aplicado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20"/>
          <p:cNvSpPr/>
          <p:nvPr/>
        </p:nvSpPr>
        <p:spPr>
          <a:xfrm>
            <a:off x="8522280" y="277992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5fa9a0"/>
          </a:solidFill>
          <a:ln w="12700">
            <a:solidFill>
              <a:srgbClr val="5fa9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8" name="Text 21"/>
          <p:cNvSpPr/>
          <p:nvPr/>
        </p:nvSpPr>
        <p:spPr>
          <a:xfrm>
            <a:off x="8796600" y="2660760"/>
            <a:ext cx="252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c3d2e0"/>
                </a:solidFill>
                <a:latin typeface="Calibri"/>
                <a:ea typeface="Calibri"/>
              </a:rPr>
              <a:t>A proporção de cada ação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22"/>
          <p:cNvSpPr/>
          <p:nvPr/>
        </p:nvSpPr>
        <p:spPr>
          <a:xfrm>
            <a:off x="8522280" y="310896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5fa9a0"/>
          </a:solidFill>
          <a:ln w="12700">
            <a:solidFill>
              <a:srgbClr val="5fa9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0" name="Text 23"/>
          <p:cNvSpPr/>
          <p:nvPr/>
        </p:nvSpPr>
        <p:spPr>
          <a:xfrm>
            <a:off x="8796600" y="2990160"/>
            <a:ext cx="252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c3d2e0"/>
                </a:solidFill>
                <a:latin typeface="Calibri"/>
                <a:ea typeface="Calibri"/>
              </a:rPr>
              <a:t>Quem definiu o critério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24"/>
          <p:cNvSpPr/>
          <p:nvPr/>
        </p:nvSpPr>
        <p:spPr>
          <a:xfrm>
            <a:off x="8522280" y="343800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5fa9a0"/>
          </a:solidFill>
          <a:ln w="12700">
            <a:solidFill>
              <a:srgbClr val="5fa9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2" name="Text 25"/>
          <p:cNvSpPr/>
          <p:nvPr/>
        </p:nvSpPr>
        <p:spPr>
          <a:xfrm>
            <a:off x="8796600" y="3319200"/>
            <a:ext cx="252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c3d2e0"/>
                </a:solidFill>
                <a:latin typeface="Calibri"/>
                <a:ea typeface="Calibri"/>
              </a:rPr>
              <a:t>A data da decisão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26"/>
          <p:cNvSpPr/>
          <p:nvPr/>
        </p:nvSpPr>
        <p:spPr>
          <a:xfrm>
            <a:off x="640080" y="4160520"/>
            <a:ext cx="10881000" cy="1416960"/>
          </a:xfrm>
          <a:prstGeom prst="roundRect">
            <a:avLst>
              <a:gd name="adj" fmla="val 3871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4" name="Text 27"/>
          <p:cNvSpPr/>
          <p:nvPr/>
        </p:nvSpPr>
        <p:spPr>
          <a:xfrm>
            <a:off x="932760" y="4325040"/>
            <a:ext cx="1029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Por que isso importa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 28"/>
          <p:cNvSpPr/>
          <p:nvPr/>
        </p:nvSpPr>
        <p:spPr>
          <a:xfrm>
            <a:off x="932760" y="4690800"/>
            <a:ext cx="10295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374b5e"/>
                </a:solidFill>
                <a:latin typeface="Calibri"/>
                <a:ea typeface="Calibri"/>
              </a:rPr>
              <a:t>Sem critério explícito, o custo unitário de cada ação vira arbitrário e o painel perde credibilidade na primeira conferência. Com o critério registrado, a discussão deixa de ser sobre o número e passa a ser sobre o critério — que é onde ela deve estar. O critério pode ser revisto, e a revisão recalcula a série sem apagar o histórico.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 29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seções 6.1 e 8.3.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 30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15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6.3 · FASE 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Os alertas que o painel dispara sozinho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2"/>
          <p:cNvSpPr/>
          <p:nvPr/>
        </p:nvSpPr>
        <p:spPr>
          <a:xfrm>
            <a:off x="640080" y="1517760"/>
            <a:ext cx="1088100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1" name="Shape 3"/>
          <p:cNvSpPr/>
          <p:nvPr/>
        </p:nvSpPr>
        <p:spPr>
          <a:xfrm>
            <a:off x="932760" y="181980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2" name="Text 4"/>
          <p:cNvSpPr/>
          <p:nvPr/>
        </p:nvSpPr>
        <p:spPr>
          <a:xfrm>
            <a:off x="1371600" y="1591200"/>
            <a:ext cx="3291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Dotação da LOA divergente do PPA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 5"/>
          <p:cNvSpPr/>
          <p:nvPr/>
        </p:nvSpPr>
        <p:spPr>
          <a:xfrm>
            <a:off x="4846320" y="1591200"/>
            <a:ext cx="6400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Ação cujo valor autorizado no exercício se afasta do previsto no plano. Pode ser remanejamento legítimo ou erro de vinculação — em ambos os casos, precisa aparecer.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6"/>
          <p:cNvSpPr/>
          <p:nvPr/>
        </p:nvSpPr>
        <p:spPr>
          <a:xfrm>
            <a:off x="640080" y="2404800"/>
            <a:ext cx="1088100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5" name="Shape 7"/>
          <p:cNvSpPr/>
          <p:nvPr/>
        </p:nvSpPr>
        <p:spPr>
          <a:xfrm>
            <a:off x="932760" y="270648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6" name="Text 8"/>
          <p:cNvSpPr/>
          <p:nvPr/>
        </p:nvSpPr>
        <p:spPr>
          <a:xfrm>
            <a:off x="1371600" y="2477880"/>
            <a:ext cx="3291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Meta expressiva, liquidação parada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9"/>
          <p:cNvSpPr/>
          <p:nvPr/>
        </p:nvSpPr>
        <p:spPr>
          <a:xfrm>
            <a:off x="4846320" y="2477880"/>
            <a:ext cx="6400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Programa com meta física relevante e liquidação próxima de zero após o primeiro semestre. Sinal de risco de não execução dentro do exercício.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10"/>
          <p:cNvSpPr/>
          <p:nvPr/>
        </p:nvSpPr>
        <p:spPr>
          <a:xfrm>
            <a:off x="640080" y="3291840"/>
            <a:ext cx="1088100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9" name="Shape 11"/>
          <p:cNvSpPr/>
          <p:nvPr/>
        </p:nvSpPr>
        <p:spPr>
          <a:xfrm>
            <a:off x="932760" y="359352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0" name="Text 12"/>
          <p:cNvSpPr/>
          <p:nvPr/>
        </p:nvSpPr>
        <p:spPr>
          <a:xfrm>
            <a:off x="1371600" y="3364920"/>
            <a:ext cx="3291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Custo unitário fora da faixa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 13"/>
          <p:cNvSpPr/>
          <p:nvPr/>
        </p:nvSpPr>
        <p:spPr>
          <a:xfrm>
            <a:off x="4846320" y="3364920"/>
            <a:ext cx="6400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Valor por unidade destoante do observado em programas comparáveis. Não conclui nada — pede explicação.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14"/>
          <p:cNvSpPr/>
          <p:nvPr/>
        </p:nvSpPr>
        <p:spPr>
          <a:xfrm>
            <a:off x="640080" y="4178880"/>
            <a:ext cx="1088100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3" name="Shape 15"/>
          <p:cNvSpPr/>
          <p:nvPr/>
        </p:nvSpPr>
        <p:spPr>
          <a:xfrm>
            <a:off x="932760" y="448056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a33b3b"/>
          </a:solidFill>
          <a:ln w="12700">
            <a:solidFill>
              <a:srgbClr val="a33b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4" name="Text 16"/>
          <p:cNvSpPr/>
          <p:nvPr/>
        </p:nvSpPr>
        <p:spPr>
          <a:xfrm>
            <a:off x="1371600" y="4251960"/>
            <a:ext cx="3291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Liquidação acima da dotação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 17"/>
          <p:cNvSpPr/>
          <p:nvPr/>
        </p:nvSpPr>
        <p:spPr>
          <a:xfrm>
            <a:off x="4846320" y="4251960"/>
            <a:ext cx="6400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Valor liquidado superior à meta financeira da ação. Indica erro de classificação ou crédito adicional não registrado.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18"/>
          <p:cNvSpPr/>
          <p:nvPr/>
        </p:nvSpPr>
        <p:spPr>
          <a:xfrm>
            <a:off x="640080" y="5065920"/>
            <a:ext cx="1088100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7" name="Shape 19"/>
          <p:cNvSpPr/>
          <p:nvPr/>
        </p:nvSpPr>
        <p:spPr>
          <a:xfrm>
            <a:off x="932760" y="5367600"/>
            <a:ext cx="200880" cy="200880"/>
          </a:xfrm>
          <a:prstGeom prst="roundRect">
            <a:avLst>
              <a:gd name="adj" fmla="val 227273"/>
            </a:avLst>
          </a:prstGeom>
          <a:solidFill>
            <a:srgbClr val="6b7b8c"/>
          </a:solidFill>
          <a:ln w="12700">
            <a:solidFill>
              <a:srgbClr val="6b7b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8" name="Text 20"/>
          <p:cNvSpPr/>
          <p:nvPr/>
        </p:nvSpPr>
        <p:spPr>
          <a:xfrm>
            <a:off x="1371600" y="5139000"/>
            <a:ext cx="3291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Ação sem meta física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 21"/>
          <p:cNvSpPr/>
          <p:nvPr/>
        </p:nvSpPr>
        <p:spPr>
          <a:xfrm>
            <a:off x="4846320" y="5139000"/>
            <a:ext cx="6400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Impede o cálculo de custo unitário. A lacuna é exibida como indisponível; o painel não estima o que a base não tem.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 22"/>
          <p:cNvSpPr/>
          <p:nvPr/>
        </p:nvSpPr>
        <p:spPr>
          <a:xfrm>
            <a:off x="640080" y="5943600"/>
            <a:ext cx="10881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5c6e80"/>
                </a:solidFill>
                <a:latin typeface="Calibri"/>
                <a:ea typeface="Calibri"/>
              </a:rPr>
              <a:t>Fila priorizada por materialidade e risco; cada caso registra a tratativa e o responsável.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 23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seções 6.3 e 9.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 24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7fb6ae"/>
                </a:solidFill>
                <a:latin typeface="Calibri"/>
                <a:ea typeface="Calibri"/>
              </a:rPr>
              <a:t>SEÇÃO 7 · FASE 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400" spc="-1" strike="noStrike">
                <a:solidFill>
                  <a:srgbClr val="ffffff"/>
                </a:solidFill>
                <a:latin typeface="Cambria"/>
                <a:ea typeface="Cambria"/>
              </a:rPr>
              <a:t>A aderência do contrato à finalidade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2"/>
          <p:cNvSpPr/>
          <p:nvPr/>
        </p:nvSpPr>
        <p:spPr>
          <a:xfrm>
            <a:off x="640080" y="1691640"/>
            <a:ext cx="9143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600" spc="-1" strike="noStrike">
                <a:solidFill>
                  <a:srgbClr val="b9c8d6"/>
                </a:solidFill>
                <a:latin typeface="Calibri"/>
                <a:ea typeface="Calibri"/>
              </a:rPr>
              <a:t>O segundo cruzamento por inteligência artificial: verificar se o objeto efetivamente contratado serve à finalidade declarada do programa que paga por ele.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Shape 3"/>
          <p:cNvSpPr/>
          <p:nvPr/>
        </p:nvSpPr>
        <p:spPr>
          <a:xfrm>
            <a:off x="822960" y="3017520"/>
            <a:ext cx="4937400" cy="1919880"/>
          </a:xfrm>
          <a:prstGeom prst="roundRect">
            <a:avLst>
              <a:gd name="adj" fmla="val 2857"/>
            </a:avLst>
          </a:prstGeom>
          <a:solidFill>
            <a:srgbClr val="17385a"/>
          </a:solidFill>
          <a:ln w="1905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7" name="Text 4"/>
          <p:cNvSpPr/>
          <p:nvPr/>
        </p:nvSpPr>
        <p:spPr>
          <a:xfrm>
            <a:off x="1097280" y="320040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ffffff"/>
                </a:solidFill>
                <a:latin typeface="Cambria"/>
                <a:ea typeface="Cambria"/>
              </a:rPr>
              <a:t>O que o programa declara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Text 5"/>
          <p:cNvSpPr/>
          <p:nvPr/>
        </p:nvSpPr>
        <p:spPr>
          <a:xfrm>
            <a:off x="1097280" y="3584520"/>
            <a:ext cx="43887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c3d2e0"/>
                </a:solidFill>
                <a:latin typeface="Calibri"/>
                <a:ea typeface="Calibri"/>
              </a:rPr>
              <a:t>Finalidade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c3d2e0"/>
                </a:solidFill>
                <a:latin typeface="Calibri"/>
                <a:ea typeface="Calibri"/>
              </a:rPr>
              <a:t>Objetivo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c3d2e0"/>
                </a:solidFill>
                <a:latin typeface="Calibri"/>
                <a:ea typeface="Calibri"/>
              </a:rPr>
              <a:t>Público-alvo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c3d2e0"/>
                </a:solidFill>
                <a:latin typeface="Calibri"/>
                <a:ea typeface="Calibri"/>
              </a:rPr>
              <a:t>Produto esperado da ação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Shape 6"/>
          <p:cNvSpPr/>
          <p:nvPr/>
        </p:nvSpPr>
        <p:spPr>
          <a:xfrm>
            <a:off x="6400800" y="3017520"/>
            <a:ext cx="4937400" cy="1919880"/>
          </a:xfrm>
          <a:prstGeom prst="roundRect">
            <a:avLst>
              <a:gd name="adj" fmla="val 2857"/>
            </a:avLst>
          </a:prstGeom>
          <a:solidFill>
            <a:srgbClr val="17385a"/>
          </a:solidFill>
          <a:ln w="1905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0" name="Text 7"/>
          <p:cNvSpPr/>
          <p:nvPr/>
        </p:nvSpPr>
        <p:spPr>
          <a:xfrm>
            <a:off x="6675120" y="320040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ffffff"/>
                </a:solidFill>
                <a:latin typeface="Cambria"/>
                <a:ea typeface="Cambria"/>
              </a:rPr>
              <a:t>O que o contrato faz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 8"/>
          <p:cNvSpPr/>
          <p:nvPr/>
        </p:nvSpPr>
        <p:spPr>
          <a:xfrm>
            <a:off x="6675120" y="3584520"/>
            <a:ext cx="43887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c3d2e0"/>
                </a:solidFill>
                <a:latin typeface="Calibri"/>
                <a:ea typeface="Calibri"/>
              </a:rPr>
              <a:t>Objeto contratado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c3d2e0"/>
                </a:solidFill>
                <a:latin typeface="Calibri"/>
                <a:ea typeface="Calibri"/>
              </a:rPr>
              <a:t>Justificativa da contratação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c3d2e0"/>
                </a:solidFill>
                <a:latin typeface="Calibri"/>
                <a:ea typeface="Calibri"/>
              </a:rPr>
              <a:t>Itens e quantidades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c3d2e0"/>
                </a:solidFill>
                <a:latin typeface="Calibri"/>
                <a:ea typeface="Calibri"/>
              </a:rPr>
              <a:t>Dotação a que se vincula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 9"/>
          <p:cNvSpPr/>
          <p:nvPr/>
        </p:nvSpPr>
        <p:spPr>
          <a:xfrm>
            <a:off x="5760720" y="37033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7fb6ae"/>
                </a:solidFill>
                <a:latin typeface="Cambria"/>
                <a:ea typeface="Cambria"/>
              </a:rPr>
              <a:t>×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Text 10"/>
          <p:cNvSpPr/>
          <p:nvPr/>
        </p:nvSpPr>
        <p:spPr>
          <a:xfrm>
            <a:off x="640080" y="52578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b9c8d6"/>
                </a:solidFill>
                <a:latin typeface="Calibri"/>
                <a:ea typeface="Calibri"/>
              </a:rPr>
              <a:t>Nas páginas seguintes: o método, as quatro classificações, um exemplo de parecer, os casos de atenção e a regra de decisão humana.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7.1 · FASE 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O método, em quatro entregas obrigatórias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 2"/>
          <p:cNvSpPr/>
          <p:nvPr/>
        </p:nvSpPr>
        <p:spPr>
          <a:xfrm>
            <a:off x="640080" y="141732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5c6e80"/>
                </a:solidFill>
                <a:latin typeface="Calibri"/>
                <a:ea typeface="Calibri"/>
              </a:rPr>
              <a:t>A análise semântica compara os dois textos e devolve sempre estes quatro elementos. Falta de qualquer um deles impede a publicação do resultado.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3"/>
          <p:cNvSpPr/>
          <p:nvPr/>
        </p:nvSpPr>
        <p:spPr>
          <a:xfrm>
            <a:off x="640080" y="2011680"/>
            <a:ext cx="5211720" cy="1371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8" name="Shape 4"/>
          <p:cNvSpPr/>
          <p:nvPr/>
        </p:nvSpPr>
        <p:spPr>
          <a:xfrm>
            <a:off x="914400" y="2267640"/>
            <a:ext cx="310680" cy="310680"/>
          </a:xfrm>
          <a:prstGeom prst="roundRect">
            <a:avLst>
              <a:gd name="adj" fmla="val 147059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9" name="Text 5"/>
          <p:cNvSpPr/>
          <p:nvPr/>
        </p:nvSpPr>
        <p:spPr>
          <a:xfrm>
            <a:off x="914400" y="22676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 6"/>
          <p:cNvSpPr/>
          <p:nvPr/>
        </p:nvSpPr>
        <p:spPr>
          <a:xfrm>
            <a:off x="1353240" y="223128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0f2a44"/>
                </a:solidFill>
                <a:latin typeface="Cambria"/>
                <a:ea typeface="Cambria"/>
              </a:rPr>
              <a:t>Classificação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 7"/>
          <p:cNvSpPr/>
          <p:nvPr/>
        </p:nvSpPr>
        <p:spPr>
          <a:xfrm>
            <a:off x="932760" y="2706480"/>
            <a:ext cx="4663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Um entre quatro níveis: aderente, parcialmente aderente, não aderente ou inconclusivo.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8"/>
          <p:cNvSpPr/>
          <p:nvPr/>
        </p:nvSpPr>
        <p:spPr>
          <a:xfrm>
            <a:off x="6217920" y="2011680"/>
            <a:ext cx="5211720" cy="1371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3" name="Shape 9"/>
          <p:cNvSpPr/>
          <p:nvPr/>
        </p:nvSpPr>
        <p:spPr>
          <a:xfrm>
            <a:off x="6492240" y="2267640"/>
            <a:ext cx="310680" cy="310680"/>
          </a:xfrm>
          <a:prstGeom prst="roundRect">
            <a:avLst>
              <a:gd name="adj" fmla="val 147059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4" name="Text 10"/>
          <p:cNvSpPr/>
          <p:nvPr/>
        </p:nvSpPr>
        <p:spPr>
          <a:xfrm>
            <a:off x="6492240" y="22676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 11"/>
          <p:cNvSpPr/>
          <p:nvPr/>
        </p:nvSpPr>
        <p:spPr>
          <a:xfrm>
            <a:off x="6931080" y="223128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0f2a44"/>
                </a:solidFill>
                <a:latin typeface="Cambria"/>
                <a:ea typeface="Cambria"/>
              </a:rPr>
              <a:t>Justificativa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 12"/>
          <p:cNvSpPr/>
          <p:nvPr/>
        </p:nvSpPr>
        <p:spPr>
          <a:xfrm>
            <a:off x="6510600" y="2706480"/>
            <a:ext cx="4663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Texto em linguagem clara apontando por que a conclusão foi essa, sem jargão técnico.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13"/>
          <p:cNvSpPr/>
          <p:nvPr/>
        </p:nvSpPr>
        <p:spPr>
          <a:xfrm>
            <a:off x="640080" y="3611880"/>
            <a:ext cx="5211720" cy="1371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8" name="Shape 14"/>
          <p:cNvSpPr/>
          <p:nvPr/>
        </p:nvSpPr>
        <p:spPr>
          <a:xfrm>
            <a:off x="914400" y="3867840"/>
            <a:ext cx="310680" cy="310680"/>
          </a:xfrm>
          <a:prstGeom prst="roundRect">
            <a:avLst>
              <a:gd name="adj" fmla="val 147059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9" name="Text 15"/>
          <p:cNvSpPr/>
          <p:nvPr/>
        </p:nvSpPr>
        <p:spPr>
          <a:xfrm>
            <a:off x="914400" y="38678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 16"/>
          <p:cNvSpPr/>
          <p:nvPr/>
        </p:nvSpPr>
        <p:spPr>
          <a:xfrm>
            <a:off x="1353240" y="383148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0f2a44"/>
                </a:solidFill>
                <a:latin typeface="Cambria"/>
                <a:ea typeface="Cambria"/>
              </a:rPr>
              <a:t>Trechos citados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 17"/>
          <p:cNvSpPr/>
          <p:nvPr/>
        </p:nvSpPr>
        <p:spPr>
          <a:xfrm>
            <a:off x="932760" y="4306680"/>
            <a:ext cx="4663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As passagens exatas do objeto e da finalidade que sustentam a conclusão, localizadas no documento.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18"/>
          <p:cNvSpPr/>
          <p:nvPr/>
        </p:nvSpPr>
        <p:spPr>
          <a:xfrm>
            <a:off x="6217920" y="3611880"/>
            <a:ext cx="5211720" cy="1371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3" name="Shape 19"/>
          <p:cNvSpPr/>
          <p:nvPr/>
        </p:nvSpPr>
        <p:spPr>
          <a:xfrm>
            <a:off x="6492240" y="3867840"/>
            <a:ext cx="310680" cy="310680"/>
          </a:xfrm>
          <a:prstGeom prst="roundRect">
            <a:avLst>
              <a:gd name="adj" fmla="val 147059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4" name="Text 20"/>
          <p:cNvSpPr/>
          <p:nvPr/>
        </p:nvSpPr>
        <p:spPr>
          <a:xfrm>
            <a:off x="6492240" y="38678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 21"/>
          <p:cNvSpPr/>
          <p:nvPr/>
        </p:nvSpPr>
        <p:spPr>
          <a:xfrm>
            <a:off x="6931080" y="383148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0f2a44"/>
                </a:solidFill>
                <a:latin typeface="Cambria"/>
                <a:ea typeface="Cambria"/>
              </a:rPr>
              <a:t>Nível de confiança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Text 22"/>
          <p:cNvSpPr/>
          <p:nvPr/>
        </p:nvSpPr>
        <p:spPr>
          <a:xfrm>
            <a:off x="6510600" y="4306680"/>
            <a:ext cx="4663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Medida da segurança da análise. Abaixo do limite definido pelo órgão, o caso vai para revisão humana.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23"/>
          <p:cNvSpPr/>
          <p:nvPr/>
        </p:nvSpPr>
        <p:spPr>
          <a:xfrm>
            <a:off x="640080" y="5257800"/>
            <a:ext cx="10881000" cy="9140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8" name="Text 24"/>
          <p:cNvSpPr/>
          <p:nvPr/>
        </p:nvSpPr>
        <p:spPr>
          <a:xfrm>
            <a:off x="932760" y="5422320"/>
            <a:ext cx="1029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Conclusão sem evidência textual não é publicada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 25"/>
          <p:cNvSpPr/>
          <p:nvPr/>
        </p:nvSpPr>
        <p:spPr>
          <a:xfrm>
            <a:off x="932760" y="5788080"/>
            <a:ext cx="1029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A exigência dos trechos citados é o que torna a análise conferível. O gestor não precisa confiar na máquina: ele lê o trecho do objeto, lê o trecho da finalidade e avalia por conta própria se a conclusão se sustenta.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 26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7.1.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 27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18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7.1 · FASE 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As quatro classificações e o que cada uma exige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2"/>
          <p:cNvSpPr/>
          <p:nvPr/>
        </p:nvSpPr>
        <p:spPr>
          <a:xfrm>
            <a:off x="640080" y="1554480"/>
            <a:ext cx="1088100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5" name="Shape 3"/>
          <p:cNvSpPr/>
          <p:nvPr/>
        </p:nvSpPr>
        <p:spPr>
          <a:xfrm>
            <a:off x="640080" y="1554480"/>
            <a:ext cx="82080" cy="95976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6" name="Text 4"/>
          <p:cNvSpPr/>
          <p:nvPr/>
        </p:nvSpPr>
        <p:spPr>
          <a:xfrm>
            <a:off x="1005840" y="170064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0f2a44"/>
                </a:solidFill>
                <a:latin typeface="Cambria"/>
                <a:ea typeface="Cambria"/>
              </a:rPr>
              <a:t>Aderente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 5"/>
          <p:cNvSpPr/>
          <p:nvPr/>
        </p:nvSpPr>
        <p:spPr>
          <a:xfrm>
            <a:off x="3566160" y="1700640"/>
            <a:ext cx="3840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O objeto serve diretamente à finalidade declarada do programa.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 6"/>
          <p:cNvSpPr/>
          <p:nvPr/>
        </p:nvSpPr>
        <p:spPr>
          <a:xfrm>
            <a:off x="7589520" y="170064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i="1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Segue o curso normal. Entra na amostragem periódica de calibração.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7"/>
          <p:cNvSpPr/>
          <p:nvPr/>
        </p:nvSpPr>
        <p:spPr>
          <a:xfrm>
            <a:off x="640080" y="2670120"/>
            <a:ext cx="1088100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0" name="Shape 8"/>
          <p:cNvSpPr/>
          <p:nvPr/>
        </p:nvSpPr>
        <p:spPr>
          <a:xfrm>
            <a:off x="640080" y="2670120"/>
            <a:ext cx="82080" cy="959760"/>
          </a:xfrm>
          <a:prstGeom prst="rect">
            <a:avLst/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1" name="Text 9"/>
          <p:cNvSpPr/>
          <p:nvPr/>
        </p:nvSpPr>
        <p:spPr>
          <a:xfrm>
            <a:off x="1005840" y="281628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0f2a44"/>
                </a:solidFill>
                <a:latin typeface="Cambria"/>
                <a:ea typeface="Cambria"/>
              </a:rPr>
              <a:t>Parcialmente aderente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 10"/>
          <p:cNvSpPr/>
          <p:nvPr/>
        </p:nvSpPr>
        <p:spPr>
          <a:xfrm>
            <a:off x="3566160" y="2816280"/>
            <a:ext cx="3840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Parte do objeto extrapola a finalidade, ou atende público diverso do declarado.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 11"/>
          <p:cNvSpPr/>
          <p:nvPr/>
        </p:nvSpPr>
        <p:spPr>
          <a:xfrm>
            <a:off x="7589520" y="281628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i="1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Revisão humana. Costuma indicar necessidade de segregar itens ou revisar a dotação.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12"/>
          <p:cNvSpPr/>
          <p:nvPr/>
        </p:nvSpPr>
        <p:spPr>
          <a:xfrm>
            <a:off x="640080" y="3785760"/>
            <a:ext cx="1088100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5" name="Shape 13"/>
          <p:cNvSpPr/>
          <p:nvPr/>
        </p:nvSpPr>
        <p:spPr>
          <a:xfrm>
            <a:off x="640080" y="3785760"/>
            <a:ext cx="82080" cy="959760"/>
          </a:xfrm>
          <a:prstGeom prst="rect">
            <a:avLst/>
          </a:prstGeom>
          <a:solidFill>
            <a:srgbClr val="a33b3b"/>
          </a:solidFill>
          <a:ln w="12700">
            <a:solidFill>
              <a:srgbClr val="a33b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6" name="Text 14"/>
          <p:cNvSpPr/>
          <p:nvPr/>
        </p:nvSpPr>
        <p:spPr>
          <a:xfrm>
            <a:off x="1005840" y="393192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0f2a44"/>
                </a:solidFill>
                <a:latin typeface="Cambria"/>
                <a:ea typeface="Cambria"/>
              </a:rPr>
              <a:t>Não aderente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Text 15"/>
          <p:cNvSpPr/>
          <p:nvPr/>
        </p:nvSpPr>
        <p:spPr>
          <a:xfrm>
            <a:off x="3566160" y="3931920"/>
            <a:ext cx="3840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O objeto não guarda relação identificável com a finalidade do programa.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Text 16"/>
          <p:cNvSpPr/>
          <p:nvPr/>
        </p:nvSpPr>
        <p:spPr>
          <a:xfrm>
            <a:off x="7589520" y="393192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i="1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Revisão humana obrigatória, com prioridade por materialidade.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17"/>
          <p:cNvSpPr/>
          <p:nvPr/>
        </p:nvSpPr>
        <p:spPr>
          <a:xfrm>
            <a:off x="640080" y="4901040"/>
            <a:ext cx="1088100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0" name="Shape 18"/>
          <p:cNvSpPr/>
          <p:nvPr/>
        </p:nvSpPr>
        <p:spPr>
          <a:xfrm>
            <a:off x="640080" y="4901040"/>
            <a:ext cx="82080" cy="959760"/>
          </a:xfrm>
          <a:prstGeom prst="rect">
            <a:avLst/>
          </a:prstGeom>
          <a:solidFill>
            <a:srgbClr val="6b7b8c"/>
          </a:solidFill>
          <a:ln w="12700">
            <a:solidFill>
              <a:srgbClr val="6b7b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1" name="Text 19"/>
          <p:cNvSpPr/>
          <p:nvPr/>
        </p:nvSpPr>
        <p:spPr>
          <a:xfrm>
            <a:off x="1005840" y="504756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0f2a44"/>
                </a:solidFill>
                <a:latin typeface="Cambria"/>
                <a:ea typeface="Cambria"/>
              </a:rPr>
              <a:t>Inconclusivo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 20"/>
          <p:cNvSpPr/>
          <p:nvPr/>
        </p:nvSpPr>
        <p:spPr>
          <a:xfrm>
            <a:off x="3566160" y="5047560"/>
            <a:ext cx="3840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O objeto é genérico demais para permitir verificação.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 21"/>
          <p:cNvSpPr/>
          <p:nvPr/>
        </p:nvSpPr>
        <p:spPr>
          <a:xfrm>
            <a:off x="7589520" y="504756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i="1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Recomendação de diligência: pedir detalhamento do objeto à unidade contratante.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Text 22"/>
          <p:cNvSpPr/>
          <p:nvPr/>
        </p:nvSpPr>
        <p:spPr>
          <a:xfrm>
            <a:off x="640080" y="589788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A coluna da direita mostra o encaminhamento: a classificação não é um fim, é o que determina para onde o caso vai.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Text 23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7.1.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 24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7.1 · FASE 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Como se lê um parecer de aderência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2"/>
          <p:cNvSpPr/>
          <p:nvPr/>
        </p:nvSpPr>
        <p:spPr>
          <a:xfrm>
            <a:off x="8686800" y="384120"/>
            <a:ext cx="2834280" cy="310680"/>
          </a:xfrm>
          <a:prstGeom prst="roundRect">
            <a:avLst>
              <a:gd name="adj" fmla="val 14706"/>
            </a:avLst>
          </a:prstGeom>
          <a:solidFill>
            <a:srgbClr val="fbf3e3"/>
          </a:solidFill>
          <a:ln w="12700">
            <a:solidFill>
              <a:srgbClr val="e7cf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0" name="Text 3"/>
          <p:cNvSpPr/>
          <p:nvPr/>
        </p:nvSpPr>
        <p:spPr>
          <a:xfrm>
            <a:off x="8686800" y="384120"/>
            <a:ext cx="2834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b9791c"/>
                </a:solidFill>
                <a:latin typeface="Calibri"/>
                <a:ea typeface="Calibri"/>
              </a:rPr>
              <a:t>EXEMPLO ILUSTRATIVO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Shape 4"/>
          <p:cNvSpPr/>
          <p:nvPr/>
        </p:nvSpPr>
        <p:spPr>
          <a:xfrm>
            <a:off x="640080" y="1463040"/>
            <a:ext cx="5211720" cy="21027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2" name="Text 5"/>
          <p:cNvSpPr/>
          <p:nvPr/>
        </p:nvSpPr>
        <p:spPr>
          <a:xfrm>
            <a:off x="932760" y="164592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148" strike="noStrike">
                <a:solidFill>
                  <a:srgbClr val="0e7f76"/>
                </a:solidFill>
                <a:latin typeface="Calibri"/>
                <a:ea typeface="Calibri"/>
              </a:rPr>
              <a:t>O que o programa declara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 6"/>
          <p:cNvSpPr/>
          <p:nvPr/>
        </p:nvSpPr>
        <p:spPr>
          <a:xfrm>
            <a:off x="932760" y="196596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Programa 0012 — Atenção Básica em Saúde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Text 7"/>
          <p:cNvSpPr/>
          <p:nvPr/>
        </p:nvSpPr>
        <p:spPr>
          <a:xfrm>
            <a:off x="932760" y="2286000"/>
            <a:ext cx="46630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Finalidade: garantir atendimento básico resolutivo em todo o território municipal.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Público-alvo: população residente no município.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Produto da ação: unidade básica de saúde mantida.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8"/>
          <p:cNvSpPr/>
          <p:nvPr/>
        </p:nvSpPr>
        <p:spPr>
          <a:xfrm>
            <a:off x="6309360" y="1463040"/>
            <a:ext cx="5211720" cy="21027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6" name="Text 9"/>
          <p:cNvSpPr/>
          <p:nvPr/>
        </p:nvSpPr>
        <p:spPr>
          <a:xfrm>
            <a:off x="6602040" y="164592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148" strike="noStrike">
                <a:solidFill>
                  <a:srgbClr val="b9791c"/>
                </a:solidFill>
                <a:latin typeface="Calibri"/>
                <a:ea typeface="Calibri"/>
              </a:rPr>
              <a:t>O que o contrato contrata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 10"/>
          <p:cNvSpPr/>
          <p:nvPr/>
        </p:nvSpPr>
        <p:spPr>
          <a:xfrm>
            <a:off x="6602040" y="196596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Contrato 048/2026 — R$ 1.240.000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Text 11"/>
          <p:cNvSpPr/>
          <p:nvPr/>
        </p:nvSpPr>
        <p:spPr>
          <a:xfrm>
            <a:off x="6602040" y="2286000"/>
            <a:ext cx="46630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Objeto: aquisição de mobiliário e equipamentos de escritório para unidades administrativas da secretaria, incluindo reforma de sala de reuniões da sede.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12"/>
          <p:cNvSpPr/>
          <p:nvPr/>
        </p:nvSpPr>
        <p:spPr>
          <a:xfrm>
            <a:off x="640080" y="3794760"/>
            <a:ext cx="10881000" cy="2239920"/>
          </a:xfrm>
          <a:prstGeom prst="roundRect">
            <a:avLst>
              <a:gd name="adj" fmla="val 2449"/>
            </a:avLst>
          </a:prstGeom>
          <a:solidFill>
            <a:srgbClr val="f4f7fa"/>
          </a:solidFill>
          <a:ln w="25400">
            <a:solidFill>
              <a:srgbClr val="b9791c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0" name="Shape 13"/>
          <p:cNvSpPr/>
          <p:nvPr/>
        </p:nvSpPr>
        <p:spPr>
          <a:xfrm>
            <a:off x="932760" y="4023360"/>
            <a:ext cx="2148480" cy="328680"/>
          </a:xfrm>
          <a:prstGeom prst="roundRect">
            <a:avLst>
              <a:gd name="adj" fmla="val 13889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1" name="Text 14"/>
          <p:cNvSpPr/>
          <p:nvPr/>
        </p:nvSpPr>
        <p:spPr>
          <a:xfrm>
            <a:off x="932760" y="4023360"/>
            <a:ext cx="2148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ffffff"/>
                </a:solidFill>
                <a:latin typeface="Calibri"/>
                <a:ea typeface="Calibri"/>
              </a:rPr>
              <a:t>PARCIALMENTE ADERENTE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Text 15"/>
          <p:cNvSpPr/>
          <p:nvPr/>
        </p:nvSpPr>
        <p:spPr>
          <a:xfrm>
            <a:off x="3246120" y="402336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5c6e80"/>
                </a:solidFill>
                <a:latin typeface="Calibri"/>
                <a:ea typeface="Calibri"/>
              </a:rPr>
              <a:t>confiança 84%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Text 16"/>
          <p:cNvSpPr/>
          <p:nvPr/>
        </p:nvSpPr>
        <p:spPr>
          <a:xfrm>
            <a:off x="932760" y="448056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0f2a44"/>
                </a:solidFill>
                <a:latin typeface="Calibri"/>
                <a:ea typeface="Calibri"/>
              </a:rPr>
              <a:t>Parecer.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 17"/>
          <p:cNvSpPr/>
          <p:nvPr/>
        </p:nvSpPr>
        <p:spPr>
          <a:xfrm>
            <a:off x="1874520" y="4462200"/>
            <a:ext cx="9326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Parte do objeto — equipamentos destinados a unidades de saúde — serve à finalidade do programa. A reforma da sala de reuniões da sede administrativa e o mobiliário de escritório não guardam relação com o produto declarado da ação, que é a unidade básica de saúde mantida. Recomenda-se segregar os itens e verificar se a parcela administrativa deve ser custeada por ação de gestão, e não por esta.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 18"/>
          <p:cNvSpPr/>
          <p:nvPr/>
        </p:nvSpPr>
        <p:spPr>
          <a:xfrm>
            <a:off x="932760" y="548640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50" spc="-1" strike="noStrike">
                <a:solidFill>
                  <a:srgbClr val="5c6e80"/>
                </a:solidFill>
                <a:latin typeface="Calibri"/>
                <a:ea typeface="Calibri"/>
              </a:rPr>
              <a:t>Trechos citados: "unidade básica de saúde mantida" (PPA, ação 2015) · "reforma de sala de reuniões da sede" (contrato, cláusula primeira)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Text 19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7.1.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Text 20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20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7.2 · FASE 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Casos priorizados e a regra de decisão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2"/>
          <p:cNvSpPr/>
          <p:nvPr/>
        </p:nvSpPr>
        <p:spPr>
          <a:xfrm>
            <a:off x="640080" y="1554480"/>
            <a:ext cx="6674760" cy="74952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1" name="Shape 3"/>
          <p:cNvSpPr/>
          <p:nvPr/>
        </p:nvSpPr>
        <p:spPr>
          <a:xfrm>
            <a:off x="914400" y="1837800"/>
            <a:ext cx="145800" cy="145800"/>
          </a:xfrm>
          <a:prstGeom prst="roundRect">
            <a:avLst>
              <a:gd name="adj" fmla="val 312500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2" name="Text 4"/>
          <p:cNvSpPr/>
          <p:nvPr/>
        </p:nvSpPr>
        <p:spPr>
          <a:xfrm>
            <a:off x="1234440" y="1627560"/>
            <a:ext cx="2834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0f2a44"/>
                </a:solidFill>
                <a:latin typeface="Calibri"/>
                <a:ea typeface="Calibri"/>
              </a:rPr>
              <a:t>Alto valor, aderência parcial ou nula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ext 5"/>
          <p:cNvSpPr/>
          <p:nvPr/>
        </p:nvSpPr>
        <p:spPr>
          <a:xfrm>
            <a:off x="4114800" y="1627560"/>
            <a:ext cx="30171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5c6e80"/>
                </a:solidFill>
                <a:latin typeface="Calibri"/>
                <a:ea typeface="Calibri"/>
              </a:rPr>
              <a:t>Prioridade máxima na fila. A materialidade define a ordem.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6"/>
          <p:cNvSpPr/>
          <p:nvPr/>
        </p:nvSpPr>
        <p:spPr>
          <a:xfrm>
            <a:off x="640080" y="2450520"/>
            <a:ext cx="6674760" cy="74952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5" name="Shape 7"/>
          <p:cNvSpPr/>
          <p:nvPr/>
        </p:nvSpPr>
        <p:spPr>
          <a:xfrm>
            <a:off x="914400" y="2734200"/>
            <a:ext cx="145800" cy="145800"/>
          </a:xfrm>
          <a:prstGeom prst="roundRect">
            <a:avLst>
              <a:gd name="adj" fmla="val 312500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6" name="Text 8"/>
          <p:cNvSpPr/>
          <p:nvPr/>
        </p:nvSpPr>
        <p:spPr>
          <a:xfrm>
            <a:off x="1234440" y="2523600"/>
            <a:ext cx="2834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0f2a44"/>
                </a:solidFill>
                <a:latin typeface="Calibri"/>
                <a:ea typeface="Calibri"/>
              </a:rPr>
              <a:t>Objeto genérico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Text 9"/>
          <p:cNvSpPr/>
          <p:nvPr/>
        </p:nvSpPr>
        <p:spPr>
          <a:xfrm>
            <a:off x="4114800" y="2523600"/>
            <a:ext cx="30171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5c6e80"/>
                </a:solidFill>
                <a:latin typeface="Calibri"/>
                <a:ea typeface="Calibri"/>
              </a:rPr>
              <a:t>Impede a verificação. Gera diligência para detalhamento, não reprovação.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10"/>
          <p:cNvSpPr/>
          <p:nvPr/>
        </p:nvSpPr>
        <p:spPr>
          <a:xfrm>
            <a:off x="640080" y="3346560"/>
            <a:ext cx="6674760" cy="74952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9" name="Shape 11"/>
          <p:cNvSpPr/>
          <p:nvPr/>
        </p:nvSpPr>
        <p:spPr>
          <a:xfrm>
            <a:off x="914400" y="3630240"/>
            <a:ext cx="145800" cy="145800"/>
          </a:xfrm>
          <a:prstGeom prst="roundRect">
            <a:avLst>
              <a:gd name="adj" fmla="val 312500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0" name="Text 12"/>
          <p:cNvSpPr/>
          <p:nvPr/>
        </p:nvSpPr>
        <p:spPr>
          <a:xfrm>
            <a:off x="1234440" y="3420000"/>
            <a:ext cx="2834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0f2a44"/>
                </a:solidFill>
                <a:latin typeface="Calibri"/>
                <a:ea typeface="Calibri"/>
              </a:rPr>
              <a:t>Vinculação cruzada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 13"/>
          <p:cNvSpPr/>
          <p:nvPr/>
        </p:nvSpPr>
        <p:spPr>
          <a:xfrm>
            <a:off x="4114800" y="3420000"/>
            <a:ext cx="30171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5c6e80"/>
                </a:solidFill>
                <a:latin typeface="Calibri"/>
                <a:ea typeface="Calibri"/>
              </a:rPr>
              <a:t>Contrato ligado a ação de programa distinto daquele cuja finalidade ele atende.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14"/>
          <p:cNvSpPr/>
          <p:nvPr/>
        </p:nvSpPr>
        <p:spPr>
          <a:xfrm>
            <a:off x="640080" y="4242960"/>
            <a:ext cx="6674760" cy="74952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3" name="Shape 15"/>
          <p:cNvSpPr/>
          <p:nvPr/>
        </p:nvSpPr>
        <p:spPr>
          <a:xfrm>
            <a:off x="914400" y="4526280"/>
            <a:ext cx="145800" cy="145800"/>
          </a:xfrm>
          <a:prstGeom prst="roundRect">
            <a:avLst>
              <a:gd name="adj" fmla="val 312500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4" name="Text 16"/>
          <p:cNvSpPr/>
          <p:nvPr/>
        </p:nvSpPr>
        <p:spPr>
          <a:xfrm>
            <a:off x="1234440" y="4316040"/>
            <a:ext cx="2834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0f2a44"/>
                </a:solidFill>
                <a:latin typeface="Calibri"/>
                <a:ea typeface="Calibri"/>
              </a:rPr>
              <a:t>Aditivo que amplia o objeto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Text 17"/>
          <p:cNvSpPr/>
          <p:nvPr/>
        </p:nvSpPr>
        <p:spPr>
          <a:xfrm>
            <a:off x="4114800" y="4316040"/>
            <a:ext cx="30171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5c6e80"/>
                </a:solidFill>
                <a:latin typeface="Calibri"/>
                <a:ea typeface="Calibri"/>
              </a:rPr>
              <a:t>Reabre a análise. O histórico anterior é preservado, não sobrescrito.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18"/>
          <p:cNvSpPr/>
          <p:nvPr/>
        </p:nvSpPr>
        <p:spPr>
          <a:xfrm>
            <a:off x="7680960" y="1554480"/>
            <a:ext cx="3840120" cy="3565800"/>
          </a:xfrm>
          <a:prstGeom prst="roundRect">
            <a:avLst>
              <a:gd name="adj" fmla="val 1538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7" name="Text 19"/>
          <p:cNvSpPr/>
          <p:nvPr/>
        </p:nvSpPr>
        <p:spPr>
          <a:xfrm>
            <a:off x="7973640" y="1783080"/>
            <a:ext cx="3291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900" spc="-1" strike="noStrike">
                <a:solidFill>
                  <a:srgbClr val="ffffff"/>
                </a:solidFill>
                <a:latin typeface="Cambria"/>
                <a:ea typeface="Cambria"/>
              </a:rPr>
              <a:t>A decisão continua humana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Text 20"/>
          <p:cNvSpPr/>
          <p:nvPr/>
        </p:nvSpPr>
        <p:spPr>
          <a:xfrm>
            <a:off x="7973640" y="2468880"/>
            <a:ext cx="3291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c3d2e0"/>
                </a:solidFill>
                <a:latin typeface="Calibri"/>
                <a:ea typeface="Calibri"/>
              </a:rPr>
              <a:t>A classificação é instrumento de triagem e priorização. Ela não substitui o juízo técnico do gestor, do controle interno ou do controle externo.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Text 21"/>
          <p:cNvSpPr/>
          <p:nvPr/>
        </p:nvSpPr>
        <p:spPr>
          <a:xfrm>
            <a:off x="7973640" y="356616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9cc7c1"/>
                </a:solidFill>
                <a:latin typeface="Calibri"/>
                <a:ea typeface="Calibri"/>
              </a:rPr>
              <a:t>Vão obrigatoriamente para revisão humana: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22"/>
          <p:cNvSpPr/>
          <p:nvPr/>
        </p:nvSpPr>
        <p:spPr>
          <a:xfrm>
            <a:off x="8010000" y="400500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5fa9a0"/>
          </a:solidFill>
          <a:ln w="12700">
            <a:solidFill>
              <a:srgbClr val="5fa9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1" name="Text 23"/>
          <p:cNvSpPr/>
          <p:nvPr/>
        </p:nvSpPr>
        <p:spPr>
          <a:xfrm>
            <a:off x="8284320" y="3886200"/>
            <a:ext cx="298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c3d2e0"/>
                </a:solidFill>
                <a:latin typeface="Calibri"/>
                <a:ea typeface="Calibri"/>
              </a:rPr>
              <a:t>Não aderentes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24"/>
          <p:cNvSpPr/>
          <p:nvPr/>
        </p:nvSpPr>
        <p:spPr>
          <a:xfrm>
            <a:off x="8010000" y="430668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5fa9a0"/>
          </a:solidFill>
          <a:ln w="12700">
            <a:solidFill>
              <a:srgbClr val="5fa9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3" name="Text 25"/>
          <p:cNvSpPr/>
          <p:nvPr/>
        </p:nvSpPr>
        <p:spPr>
          <a:xfrm>
            <a:off x="8284320" y="4187880"/>
            <a:ext cx="298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c3d2e0"/>
                </a:solidFill>
                <a:latin typeface="Calibri"/>
                <a:ea typeface="Calibri"/>
              </a:rPr>
              <a:t>Inconclusivos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26"/>
          <p:cNvSpPr/>
          <p:nvPr/>
        </p:nvSpPr>
        <p:spPr>
          <a:xfrm>
            <a:off x="8010000" y="460872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5fa9a0"/>
          </a:solidFill>
          <a:ln w="12700">
            <a:solidFill>
              <a:srgbClr val="5fa9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5" name="Text 27"/>
          <p:cNvSpPr/>
          <p:nvPr/>
        </p:nvSpPr>
        <p:spPr>
          <a:xfrm>
            <a:off x="8284320" y="4489560"/>
            <a:ext cx="298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c3d2e0"/>
                </a:solidFill>
                <a:latin typeface="Calibri"/>
                <a:ea typeface="Calibri"/>
              </a:rPr>
              <a:t>Acima do valor de corte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28"/>
          <p:cNvSpPr/>
          <p:nvPr/>
        </p:nvSpPr>
        <p:spPr>
          <a:xfrm>
            <a:off x="8010000" y="491040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5fa9a0"/>
          </a:solidFill>
          <a:ln w="12700">
            <a:solidFill>
              <a:srgbClr val="5fa9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7" name="Text 29"/>
          <p:cNvSpPr/>
          <p:nvPr/>
        </p:nvSpPr>
        <p:spPr>
          <a:xfrm>
            <a:off x="8284320" y="4791600"/>
            <a:ext cx="298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c3d2e0"/>
                </a:solidFill>
                <a:latin typeface="Calibri"/>
                <a:ea typeface="Calibri"/>
              </a:rPr>
              <a:t>Confiança abaixo do limite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30"/>
          <p:cNvSpPr/>
          <p:nvPr/>
        </p:nvSpPr>
        <p:spPr>
          <a:xfrm>
            <a:off x="640080" y="5257800"/>
            <a:ext cx="6674760" cy="9140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9" name="Text 31"/>
          <p:cNvSpPr/>
          <p:nvPr/>
        </p:nvSpPr>
        <p:spPr>
          <a:xfrm>
            <a:off x="932760" y="5422320"/>
            <a:ext cx="6089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f2a44"/>
                </a:solidFill>
                <a:latin typeface="Cambria"/>
                <a:ea typeface="Cambria"/>
              </a:rPr>
              <a:t>Calibração periódica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Text 32"/>
          <p:cNvSpPr/>
          <p:nvPr/>
        </p:nvSpPr>
        <p:spPr>
          <a:xfrm>
            <a:off x="932760" y="5788080"/>
            <a:ext cx="6089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374b5e"/>
                </a:solidFill>
                <a:latin typeface="Calibri"/>
                <a:ea typeface="Calibri"/>
              </a:rPr>
              <a:t>Uma amostra das classificações automáticas é comparada com a avaliação humana. A divergência mede a qualidade do modelo e orienta o ajuste dos critérios. A comparação fica registrada, com data e responsável.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 33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7.2.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Text 34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8 · ARQUITETURA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Seis camadas, do dado bruto à tela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2"/>
          <p:cNvSpPr/>
          <p:nvPr/>
        </p:nvSpPr>
        <p:spPr>
          <a:xfrm>
            <a:off x="640080" y="1554480"/>
            <a:ext cx="7589160" cy="603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6" name="Shape 3"/>
          <p:cNvSpPr/>
          <p:nvPr/>
        </p:nvSpPr>
        <p:spPr>
          <a:xfrm>
            <a:off x="841320" y="166428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7" name="Text 4"/>
          <p:cNvSpPr/>
          <p:nvPr/>
        </p:nvSpPr>
        <p:spPr>
          <a:xfrm>
            <a:off x="841320" y="1664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 5"/>
          <p:cNvSpPr/>
          <p:nvPr/>
        </p:nvSpPr>
        <p:spPr>
          <a:xfrm>
            <a:off x="1389960" y="1664280"/>
            <a:ext cx="260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Ingestão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 6"/>
          <p:cNvSpPr/>
          <p:nvPr/>
        </p:nvSpPr>
        <p:spPr>
          <a:xfrm>
            <a:off x="4114800" y="166428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5c6e80"/>
                </a:solidFill>
                <a:latin typeface="Calibri"/>
                <a:ea typeface="Calibri"/>
              </a:rPr>
              <a:t>Coleta nas fontes, por integração ou carga de arquivos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7"/>
          <p:cNvSpPr/>
          <p:nvPr/>
        </p:nvSpPr>
        <p:spPr>
          <a:xfrm>
            <a:off x="640080" y="2267640"/>
            <a:ext cx="7589160" cy="603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1" name="Shape 8"/>
          <p:cNvSpPr/>
          <p:nvPr/>
        </p:nvSpPr>
        <p:spPr>
          <a:xfrm>
            <a:off x="841320" y="237744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2" name="Text 9"/>
          <p:cNvSpPr/>
          <p:nvPr/>
        </p:nvSpPr>
        <p:spPr>
          <a:xfrm>
            <a:off x="841320" y="23774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10"/>
          <p:cNvSpPr/>
          <p:nvPr/>
        </p:nvSpPr>
        <p:spPr>
          <a:xfrm>
            <a:off x="1389960" y="2377440"/>
            <a:ext cx="260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Armazenamento bruto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Text 11"/>
          <p:cNvSpPr/>
          <p:nvPr/>
        </p:nvSpPr>
        <p:spPr>
          <a:xfrm>
            <a:off x="4114800" y="237744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5c6e80"/>
                </a:solidFill>
                <a:latin typeface="Calibri"/>
                <a:ea typeface="Calibri"/>
              </a:rPr>
              <a:t>Guarda do dado original, sem transformação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12"/>
          <p:cNvSpPr/>
          <p:nvPr/>
        </p:nvSpPr>
        <p:spPr>
          <a:xfrm>
            <a:off x="640080" y="2980800"/>
            <a:ext cx="7589160" cy="603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6" name="Shape 13"/>
          <p:cNvSpPr/>
          <p:nvPr/>
        </p:nvSpPr>
        <p:spPr>
          <a:xfrm>
            <a:off x="841320" y="309060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7" name="Text 14"/>
          <p:cNvSpPr/>
          <p:nvPr/>
        </p:nvSpPr>
        <p:spPr>
          <a:xfrm>
            <a:off x="841320" y="30906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Text 15"/>
          <p:cNvSpPr/>
          <p:nvPr/>
        </p:nvSpPr>
        <p:spPr>
          <a:xfrm>
            <a:off x="1389960" y="3090600"/>
            <a:ext cx="260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Tratamento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 16"/>
          <p:cNvSpPr/>
          <p:nvPr/>
        </p:nvSpPr>
        <p:spPr>
          <a:xfrm>
            <a:off x="4114800" y="309060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5c6e80"/>
                </a:solidFill>
                <a:latin typeface="Calibri"/>
                <a:ea typeface="Calibri"/>
              </a:rPr>
              <a:t>Padronização, deduplicação, validação e chaveamento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17"/>
          <p:cNvSpPr/>
          <p:nvPr/>
        </p:nvSpPr>
        <p:spPr>
          <a:xfrm>
            <a:off x="640080" y="3694320"/>
            <a:ext cx="7589160" cy="603000"/>
          </a:xfrm>
          <a:prstGeom prst="roundRect">
            <a:avLst>
              <a:gd name="adj" fmla="val 9091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1" name="Shape 18"/>
          <p:cNvSpPr/>
          <p:nvPr/>
        </p:nvSpPr>
        <p:spPr>
          <a:xfrm>
            <a:off x="841320" y="380376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0a6159"/>
          </a:solidFill>
          <a:ln w="12700">
            <a:solidFill>
              <a:srgbClr val="0a61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2" name="Text 19"/>
          <p:cNvSpPr/>
          <p:nvPr/>
        </p:nvSpPr>
        <p:spPr>
          <a:xfrm>
            <a:off x="841320" y="3803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 20"/>
          <p:cNvSpPr/>
          <p:nvPr/>
        </p:nvSpPr>
        <p:spPr>
          <a:xfrm>
            <a:off x="1389960" y="3803760"/>
            <a:ext cx="260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ffffff"/>
                </a:solidFill>
                <a:latin typeface="Cambria"/>
                <a:ea typeface="Cambria"/>
              </a:rPr>
              <a:t>Inteligência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 21"/>
          <p:cNvSpPr/>
          <p:nvPr/>
        </p:nvSpPr>
        <p:spPr>
          <a:xfrm>
            <a:off x="4114800" y="380376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dcedeb"/>
                </a:solidFill>
                <a:latin typeface="Calibri"/>
                <a:ea typeface="Calibri"/>
              </a:rPr>
              <a:t>Módulos de custo (fase 3) e de aderência (fase 4)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22"/>
          <p:cNvSpPr/>
          <p:nvPr/>
        </p:nvSpPr>
        <p:spPr>
          <a:xfrm>
            <a:off x="640080" y="4407480"/>
            <a:ext cx="7589160" cy="603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6" name="Shape 23"/>
          <p:cNvSpPr/>
          <p:nvPr/>
        </p:nvSpPr>
        <p:spPr>
          <a:xfrm>
            <a:off x="841320" y="451728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7" name="Text 24"/>
          <p:cNvSpPr/>
          <p:nvPr/>
        </p:nvSpPr>
        <p:spPr>
          <a:xfrm>
            <a:off x="841320" y="4517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Text 25"/>
          <p:cNvSpPr/>
          <p:nvPr/>
        </p:nvSpPr>
        <p:spPr>
          <a:xfrm>
            <a:off x="1389960" y="4517280"/>
            <a:ext cx="260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Consumo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Text 26"/>
          <p:cNvSpPr/>
          <p:nvPr/>
        </p:nvSpPr>
        <p:spPr>
          <a:xfrm>
            <a:off x="4114800" y="451728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5c6e80"/>
                </a:solidFill>
                <a:latin typeface="Calibri"/>
                <a:ea typeface="Calibri"/>
              </a:rPr>
              <a:t>Modelo dimensional pronto para leitura analítica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27"/>
          <p:cNvSpPr/>
          <p:nvPr/>
        </p:nvSpPr>
        <p:spPr>
          <a:xfrm>
            <a:off x="640080" y="5120640"/>
            <a:ext cx="7589160" cy="6030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1" name="Shape 28"/>
          <p:cNvSpPr/>
          <p:nvPr/>
        </p:nvSpPr>
        <p:spPr>
          <a:xfrm>
            <a:off x="841320" y="523044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2" name="Text 29"/>
          <p:cNvSpPr/>
          <p:nvPr/>
        </p:nvSpPr>
        <p:spPr>
          <a:xfrm>
            <a:off x="841320" y="52304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Text 30"/>
          <p:cNvSpPr/>
          <p:nvPr/>
        </p:nvSpPr>
        <p:spPr>
          <a:xfrm>
            <a:off x="1389960" y="5230440"/>
            <a:ext cx="260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Apresentação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Text 31"/>
          <p:cNvSpPr/>
          <p:nvPr/>
        </p:nvSpPr>
        <p:spPr>
          <a:xfrm>
            <a:off x="4114800" y="523044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5c6e80"/>
                </a:solidFill>
                <a:latin typeface="Calibri"/>
                <a:ea typeface="Calibri"/>
              </a:rPr>
              <a:t>Painel, filtros, alertas e trilha de auditoria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32"/>
          <p:cNvSpPr/>
          <p:nvPr/>
        </p:nvSpPr>
        <p:spPr>
          <a:xfrm>
            <a:off x="8549640" y="1554480"/>
            <a:ext cx="2971440" cy="2102760"/>
          </a:xfrm>
          <a:prstGeom prst="roundRect">
            <a:avLst>
              <a:gd name="adj" fmla="val 2609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6" name="Text 33"/>
          <p:cNvSpPr/>
          <p:nvPr/>
        </p:nvSpPr>
        <p:spPr>
          <a:xfrm>
            <a:off x="8842320" y="1719000"/>
            <a:ext cx="2386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Chaves de integração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Text 34"/>
          <p:cNvSpPr/>
          <p:nvPr/>
        </p:nvSpPr>
        <p:spPr>
          <a:xfrm>
            <a:off x="8842320" y="2084760"/>
            <a:ext cx="23860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374b5e"/>
                </a:solidFill>
                <a:latin typeface="Calibri"/>
                <a:ea typeface="Calibri"/>
              </a:rPr>
              <a:t>Código do programa e da ação, unidade gestora, exercício, número do empenho e número do contrato. Quando a chave direta falha, o registro vira exceção visível e vai para conciliação assistida — nunca é descartado em silêncio.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35"/>
          <p:cNvSpPr/>
          <p:nvPr/>
        </p:nvSpPr>
        <p:spPr>
          <a:xfrm>
            <a:off x="8549640" y="3840480"/>
            <a:ext cx="2971440" cy="2011320"/>
          </a:xfrm>
          <a:prstGeom prst="roundRect">
            <a:avLst>
              <a:gd name="adj" fmla="val 2727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9" name="Text 36"/>
          <p:cNvSpPr/>
          <p:nvPr/>
        </p:nvSpPr>
        <p:spPr>
          <a:xfrm>
            <a:off x="8842320" y="4005000"/>
            <a:ext cx="2386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Qualidade do dado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Text 37"/>
          <p:cNvSpPr/>
          <p:nvPr/>
        </p:nvSpPr>
        <p:spPr>
          <a:xfrm>
            <a:off x="8842320" y="4370760"/>
            <a:ext cx="23860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374b5e"/>
                </a:solidFill>
                <a:latin typeface="Calibri"/>
                <a:ea typeface="Calibri"/>
              </a:rPr>
              <a:t>Painel próprio com percentual de registros conciliados, pendentes e rejeitados. Toda exceção registra o motivo, para correção na origem. Cargas versionadas permitem reprocessar e comparar versões.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Text 38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seções 8.1 a 8.3.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Text 39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22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9 · O PAINEL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As seis visões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2"/>
          <p:cNvSpPr/>
          <p:nvPr/>
        </p:nvSpPr>
        <p:spPr>
          <a:xfrm>
            <a:off x="640080" y="1600200"/>
            <a:ext cx="3428640" cy="18741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6" name="Text 3"/>
          <p:cNvSpPr/>
          <p:nvPr/>
        </p:nvSpPr>
        <p:spPr>
          <a:xfrm>
            <a:off x="914400" y="18014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0f2a44"/>
                </a:solidFill>
                <a:latin typeface="Cambria"/>
                <a:ea typeface="Cambria"/>
              </a:rPr>
              <a:t>Visão geral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Text 4"/>
          <p:cNvSpPr/>
          <p:nvPr/>
        </p:nvSpPr>
        <p:spPr>
          <a:xfrm>
            <a:off x="914400" y="2203560"/>
            <a:ext cx="2925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Custo total apurado, execução das metas físicas, contratos analisados e distribuição das classificações.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5"/>
          <p:cNvSpPr/>
          <p:nvPr/>
        </p:nvSpPr>
        <p:spPr>
          <a:xfrm>
            <a:off x="4343400" y="1600200"/>
            <a:ext cx="3428640" cy="18741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9" name="Text 6"/>
          <p:cNvSpPr/>
          <p:nvPr/>
        </p:nvSpPr>
        <p:spPr>
          <a:xfrm>
            <a:off x="4617720" y="18014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0f2a44"/>
                </a:solidFill>
                <a:latin typeface="Cambria"/>
                <a:ea typeface="Cambria"/>
              </a:rPr>
              <a:t>Por programa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Text 7"/>
          <p:cNvSpPr/>
          <p:nvPr/>
        </p:nvSpPr>
        <p:spPr>
          <a:xfrm>
            <a:off x="4617720" y="2203560"/>
            <a:ext cx="2925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Objetivo e finalidade, ações vinculadas, meta física, valor liquidado, custo unitário e evolução mensal.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8"/>
          <p:cNvSpPr/>
          <p:nvPr/>
        </p:nvSpPr>
        <p:spPr>
          <a:xfrm>
            <a:off x="8046720" y="1600200"/>
            <a:ext cx="3428640" cy="18741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2" name="Text 9"/>
          <p:cNvSpPr/>
          <p:nvPr/>
        </p:nvSpPr>
        <p:spPr>
          <a:xfrm>
            <a:off x="8321040" y="18014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0f2a44"/>
                </a:solidFill>
                <a:latin typeface="Cambria"/>
                <a:ea typeface="Cambria"/>
              </a:rPr>
              <a:t>Execução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Text 10"/>
          <p:cNvSpPr/>
          <p:nvPr/>
        </p:nvSpPr>
        <p:spPr>
          <a:xfrm>
            <a:off x="8321040" y="2203560"/>
            <a:ext cx="2925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Série de empenho, liquidação e pagamento, com identificação de ações paradas ou fora de ritmo.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11"/>
          <p:cNvSpPr/>
          <p:nvPr/>
        </p:nvSpPr>
        <p:spPr>
          <a:xfrm>
            <a:off x="640080" y="3703320"/>
            <a:ext cx="3428640" cy="18741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5" name="Text 12"/>
          <p:cNvSpPr/>
          <p:nvPr/>
        </p:nvSpPr>
        <p:spPr>
          <a:xfrm>
            <a:off x="914400" y="390456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0f2a44"/>
                </a:solidFill>
                <a:latin typeface="Cambria"/>
                <a:ea typeface="Cambria"/>
              </a:rPr>
              <a:t>Contratos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Text 13"/>
          <p:cNvSpPr/>
          <p:nvPr/>
        </p:nvSpPr>
        <p:spPr>
          <a:xfrm>
            <a:off x="914400" y="4306680"/>
            <a:ext cx="2925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Valor, vigência, fornecedor, programa vinculado, classificação e justificativa da análise.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14"/>
          <p:cNvSpPr/>
          <p:nvPr/>
        </p:nvSpPr>
        <p:spPr>
          <a:xfrm>
            <a:off x="4343400" y="3703320"/>
            <a:ext cx="3428640" cy="18741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8" name="Text 15"/>
          <p:cNvSpPr/>
          <p:nvPr/>
        </p:nvSpPr>
        <p:spPr>
          <a:xfrm>
            <a:off x="4617720" y="390456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0f2a44"/>
                </a:solidFill>
                <a:latin typeface="Cambria"/>
                <a:ea typeface="Cambria"/>
              </a:rPr>
              <a:t>Alertas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Text 16"/>
          <p:cNvSpPr/>
          <p:nvPr/>
        </p:nvSpPr>
        <p:spPr>
          <a:xfrm>
            <a:off x="4617720" y="4306680"/>
            <a:ext cx="2925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Fila priorizada por materialidade e risco, com registro de tratativa e responsável.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17"/>
          <p:cNvSpPr/>
          <p:nvPr/>
        </p:nvSpPr>
        <p:spPr>
          <a:xfrm>
            <a:off x="8046720" y="3703320"/>
            <a:ext cx="3428640" cy="18741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1" name="Text 18"/>
          <p:cNvSpPr/>
          <p:nvPr/>
        </p:nvSpPr>
        <p:spPr>
          <a:xfrm>
            <a:off x="8321040" y="390456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0f2a44"/>
                </a:solidFill>
                <a:latin typeface="Cambria"/>
                <a:ea typeface="Cambria"/>
              </a:rPr>
              <a:t>Trilha de auditoria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Text 19"/>
          <p:cNvSpPr/>
          <p:nvPr/>
        </p:nvSpPr>
        <p:spPr>
          <a:xfrm>
            <a:off x="8321040" y="4306680"/>
            <a:ext cx="2925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Origem do dado, data da carga e histórico de revisões humanas, para cada indicador exibido.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Text 20"/>
          <p:cNvSpPr/>
          <p:nvPr/>
        </p:nvSpPr>
        <p:spPr>
          <a:xfrm>
            <a:off x="640080" y="589788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5c6e80"/>
                </a:solidFill>
                <a:latin typeface="Calibri"/>
                <a:ea typeface="Calibri"/>
              </a:rPr>
              <a:t>Cada número exibido abre a trilha até a carga, o documento de origem e o histórico de revisão.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 21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9.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Text 22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23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10 · GOVERNANÇA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Segurança, transparência e controle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Shape 2"/>
          <p:cNvSpPr/>
          <p:nvPr/>
        </p:nvSpPr>
        <p:spPr>
          <a:xfrm>
            <a:off x="640080" y="1600200"/>
            <a:ext cx="5211720" cy="1234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9" name="Text 3"/>
          <p:cNvSpPr/>
          <p:nvPr/>
        </p:nvSpPr>
        <p:spPr>
          <a:xfrm>
            <a:off x="932760" y="178308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Acesso por perfil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Text 4"/>
          <p:cNvSpPr/>
          <p:nvPr/>
        </p:nvSpPr>
        <p:spPr>
          <a:xfrm>
            <a:off x="932760" y="2148840"/>
            <a:ext cx="4663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Gestor de programa, controle interno, auditoria e consulta pública quando aplicável, cada um com o que lhe cabe.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5"/>
          <p:cNvSpPr/>
          <p:nvPr/>
        </p:nvSpPr>
        <p:spPr>
          <a:xfrm>
            <a:off x="6217920" y="1600200"/>
            <a:ext cx="5211720" cy="1234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2" name="Text 6"/>
          <p:cNvSpPr/>
          <p:nvPr/>
        </p:nvSpPr>
        <p:spPr>
          <a:xfrm>
            <a:off x="6510600" y="178308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Registro imutável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Text 7"/>
          <p:cNvSpPr/>
          <p:nvPr/>
        </p:nvSpPr>
        <p:spPr>
          <a:xfrm>
            <a:off x="6510600" y="2148840"/>
            <a:ext cx="4663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Cada análise gerada guarda data, versão do modelo e insumos utilizados, permitindo reproduzi-la depois.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8"/>
          <p:cNvSpPr/>
          <p:nvPr/>
        </p:nvSpPr>
        <p:spPr>
          <a:xfrm>
            <a:off x="640080" y="3063240"/>
            <a:ext cx="5211720" cy="1234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5" name="Text 9"/>
          <p:cNvSpPr/>
          <p:nvPr/>
        </p:nvSpPr>
        <p:spPr>
          <a:xfrm>
            <a:off x="932760" y="324612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Metodologia publicada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Text 10"/>
          <p:cNvSpPr/>
          <p:nvPr/>
        </p:nvSpPr>
        <p:spPr>
          <a:xfrm>
            <a:off x="932760" y="3611880"/>
            <a:ext cx="4663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Os critérios de custo unitário e de classificação ficam abertos à conferência de quem for auditado.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11"/>
          <p:cNvSpPr/>
          <p:nvPr/>
        </p:nvSpPr>
        <p:spPr>
          <a:xfrm>
            <a:off x="6217920" y="3063240"/>
            <a:ext cx="5211720" cy="1234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8" name="Text 12"/>
          <p:cNvSpPr/>
          <p:nvPr/>
        </p:nvSpPr>
        <p:spPr>
          <a:xfrm>
            <a:off x="6510600" y="324612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Dados pessoais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Text 13"/>
          <p:cNvSpPr/>
          <p:nvPr/>
        </p:nvSpPr>
        <p:spPr>
          <a:xfrm>
            <a:off x="6510600" y="3611880"/>
            <a:ext cx="4663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Tratamento conforme a legislação aplicável, com atenção ao que aparece em documentos contratuais.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Shape 14"/>
          <p:cNvSpPr/>
          <p:nvPr/>
        </p:nvSpPr>
        <p:spPr>
          <a:xfrm>
            <a:off x="640080" y="4526280"/>
            <a:ext cx="5211720" cy="1234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1" name="Text 15"/>
          <p:cNvSpPr/>
          <p:nvPr/>
        </p:nvSpPr>
        <p:spPr>
          <a:xfrm>
            <a:off x="932760" y="470916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Revisão por amostragem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Text 16"/>
          <p:cNvSpPr/>
          <p:nvPr/>
        </p:nvSpPr>
        <p:spPr>
          <a:xfrm>
            <a:off x="932760" y="5074920"/>
            <a:ext cx="4663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Comparação periódica entre classificação automática e avaliação humana, para calibração contínua.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17"/>
          <p:cNvSpPr/>
          <p:nvPr/>
        </p:nvSpPr>
        <p:spPr>
          <a:xfrm>
            <a:off x="6217920" y="4526280"/>
            <a:ext cx="5211720" cy="1234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4" name="Text 18"/>
          <p:cNvSpPr/>
          <p:nvPr/>
        </p:nvSpPr>
        <p:spPr>
          <a:xfrm>
            <a:off x="6510600" y="470916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Decisão nominal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Text 19"/>
          <p:cNvSpPr/>
          <p:nvPr/>
        </p:nvSpPr>
        <p:spPr>
          <a:xfrm>
            <a:off x="6510600" y="5074920"/>
            <a:ext cx="4663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Toda conclusão publicada tem responsável identificado. A máquina não assina nada.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Text 20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10.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Text 21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24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11 · RISCOS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O que pode dar errado e como é tratado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2"/>
          <p:cNvSpPr/>
          <p:nvPr/>
        </p:nvSpPr>
        <p:spPr>
          <a:xfrm>
            <a:off x="640080" y="1600200"/>
            <a:ext cx="3108600" cy="3837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1" name="Text 3"/>
          <p:cNvSpPr/>
          <p:nvPr/>
        </p:nvSpPr>
        <p:spPr>
          <a:xfrm>
            <a:off x="749880" y="1600200"/>
            <a:ext cx="2889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Calibri"/>
                <a:ea typeface="Calibri"/>
              </a:rPr>
              <a:t>Risco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4"/>
          <p:cNvSpPr/>
          <p:nvPr/>
        </p:nvSpPr>
        <p:spPr>
          <a:xfrm>
            <a:off x="3749040" y="1600200"/>
            <a:ext cx="2925720" cy="3837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3" name="Text 5"/>
          <p:cNvSpPr/>
          <p:nvPr/>
        </p:nvSpPr>
        <p:spPr>
          <a:xfrm>
            <a:off x="3858840" y="1600200"/>
            <a:ext cx="2706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Calibri"/>
                <a:ea typeface="Calibri"/>
              </a:rPr>
              <a:t>Efeito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6"/>
          <p:cNvSpPr/>
          <p:nvPr/>
        </p:nvSpPr>
        <p:spPr>
          <a:xfrm>
            <a:off x="6675120" y="1600200"/>
            <a:ext cx="4845960" cy="3837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5" name="Text 7"/>
          <p:cNvSpPr/>
          <p:nvPr/>
        </p:nvSpPr>
        <p:spPr>
          <a:xfrm>
            <a:off x="6784920" y="1600200"/>
            <a:ext cx="462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Calibri"/>
                <a:ea typeface="Calibri"/>
              </a:rPr>
              <a:t>Mitigação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8"/>
          <p:cNvSpPr/>
          <p:nvPr/>
        </p:nvSpPr>
        <p:spPr>
          <a:xfrm>
            <a:off x="640080" y="1984320"/>
            <a:ext cx="3108600" cy="5482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7" name="Text 9"/>
          <p:cNvSpPr/>
          <p:nvPr/>
        </p:nvSpPr>
        <p:spPr>
          <a:xfrm>
            <a:off x="749880" y="1984320"/>
            <a:ext cx="2889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Dados de origem incompletos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10"/>
          <p:cNvSpPr/>
          <p:nvPr/>
        </p:nvSpPr>
        <p:spPr>
          <a:xfrm>
            <a:off x="3749040" y="1984320"/>
            <a:ext cx="2925720" cy="5482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9" name="Text 11"/>
          <p:cNvSpPr/>
          <p:nvPr/>
        </p:nvSpPr>
        <p:spPr>
          <a:xfrm>
            <a:off x="3858840" y="1984320"/>
            <a:ext cx="2706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Indicadores distorcidos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12"/>
          <p:cNvSpPr/>
          <p:nvPr/>
        </p:nvSpPr>
        <p:spPr>
          <a:xfrm>
            <a:off x="6675120" y="1984320"/>
            <a:ext cx="4845960" cy="5482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1" name="Text 13"/>
          <p:cNvSpPr/>
          <p:nvPr/>
        </p:nvSpPr>
        <p:spPr>
          <a:xfrm>
            <a:off x="6784920" y="1984320"/>
            <a:ext cx="462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0e7f76"/>
                </a:solidFill>
                <a:latin typeface="Calibri"/>
                <a:ea typeface="Calibri"/>
              </a:rPr>
              <a:t>Painel de qualidade, exceções visíveis e correção na fonte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14"/>
          <p:cNvSpPr/>
          <p:nvPr/>
        </p:nvSpPr>
        <p:spPr>
          <a:xfrm>
            <a:off x="640080" y="2532960"/>
            <a:ext cx="3108600" cy="54828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3" name="Text 15"/>
          <p:cNvSpPr/>
          <p:nvPr/>
        </p:nvSpPr>
        <p:spPr>
          <a:xfrm>
            <a:off x="749880" y="2532960"/>
            <a:ext cx="2889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Ação sem meta física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16"/>
          <p:cNvSpPr/>
          <p:nvPr/>
        </p:nvSpPr>
        <p:spPr>
          <a:xfrm>
            <a:off x="3749040" y="2532960"/>
            <a:ext cx="2925720" cy="54828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5" name="Text 17"/>
          <p:cNvSpPr/>
          <p:nvPr/>
        </p:nvSpPr>
        <p:spPr>
          <a:xfrm>
            <a:off x="3858840" y="2532960"/>
            <a:ext cx="2706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Custo unitário impossível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18"/>
          <p:cNvSpPr/>
          <p:nvPr/>
        </p:nvSpPr>
        <p:spPr>
          <a:xfrm>
            <a:off x="6675120" y="2532960"/>
            <a:ext cx="4845960" cy="54828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7" name="Text 19"/>
          <p:cNvSpPr/>
          <p:nvPr/>
        </p:nvSpPr>
        <p:spPr>
          <a:xfrm>
            <a:off x="6784920" y="2532960"/>
            <a:ext cx="462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0e7f76"/>
                </a:solidFill>
                <a:latin typeface="Calibri"/>
                <a:ea typeface="Calibri"/>
              </a:rPr>
              <a:t>Lacuna sinalizada, sem estimativa artificial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Shape 20"/>
          <p:cNvSpPr/>
          <p:nvPr/>
        </p:nvSpPr>
        <p:spPr>
          <a:xfrm>
            <a:off x="640080" y="3081600"/>
            <a:ext cx="3108600" cy="5482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9" name="Text 21"/>
          <p:cNvSpPr/>
          <p:nvPr/>
        </p:nvSpPr>
        <p:spPr>
          <a:xfrm>
            <a:off x="749880" y="3081600"/>
            <a:ext cx="2889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Classificação incorreta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22"/>
          <p:cNvSpPr/>
          <p:nvPr/>
        </p:nvSpPr>
        <p:spPr>
          <a:xfrm>
            <a:off x="3749040" y="3081600"/>
            <a:ext cx="2925720" cy="5482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1" name="Text 23"/>
          <p:cNvSpPr/>
          <p:nvPr/>
        </p:nvSpPr>
        <p:spPr>
          <a:xfrm>
            <a:off x="3858840" y="3081600"/>
            <a:ext cx="2706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Desgaste institucional e retrabalho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Shape 24"/>
          <p:cNvSpPr/>
          <p:nvPr/>
        </p:nvSpPr>
        <p:spPr>
          <a:xfrm>
            <a:off x="6675120" y="3081600"/>
            <a:ext cx="4845960" cy="5482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3" name="Text 25"/>
          <p:cNvSpPr/>
          <p:nvPr/>
        </p:nvSpPr>
        <p:spPr>
          <a:xfrm>
            <a:off x="6784920" y="3081600"/>
            <a:ext cx="462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0e7f76"/>
                </a:solidFill>
                <a:latin typeface="Calibri"/>
                <a:ea typeface="Calibri"/>
              </a:rPr>
              <a:t>Nível de confiança, revisão obrigatória e amostragem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26"/>
          <p:cNvSpPr/>
          <p:nvPr/>
        </p:nvSpPr>
        <p:spPr>
          <a:xfrm>
            <a:off x="640080" y="3630240"/>
            <a:ext cx="3108600" cy="54828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5" name="Text 27"/>
          <p:cNvSpPr/>
          <p:nvPr/>
        </p:nvSpPr>
        <p:spPr>
          <a:xfrm>
            <a:off x="749880" y="3630240"/>
            <a:ext cx="2889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Objeto contratual genérico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28"/>
          <p:cNvSpPr/>
          <p:nvPr/>
        </p:nvSpPr>
        <p:spPr>
          <a:xfrm>
            <a:off x="3749040" y="3630240"/>
            <a:ext cx="2925720" cy="54828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7" name="Text 29"/>
          <p:cNvSpPr/>
          <p:nvPr/>
        </p:nvSpPr>
        <p:spPr>
          <a:xfrm>
            <a:off x="3858840" y="3630240"/>
            <a:ext cx="2706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Análise inconclusiva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30"/>
          <p:cNvSpPr/>
          <p:nvPr/>
        </p:nvSpPr>
        <p:spPr>
          <a:xfrm>
            <a:off x="6675120" y="3630240"/>
            <a:ext cx="4845960" cy="54828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9" name="Text 31"/>
          <p:cNvSpPr/>
          <p:nvPr/>
        </p:nvSpPr>
        <p:spPr>
          <a:xfrm>
            <a:off x="6784920" y="3630240"/>
            <a:ext cx="462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0e7f76"/>
                </a:solidFill>
                <a:latin typeface="Calibri"/>
                <a:ea typeface="Calibri"/>
              </a:rPr>
              <a:t>Categoria própria e recomendação de diligência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32"/>
          <p:cNvSpPr/>
          <p:nvPr/>
        </p:nvSpPr>
        <p:spPr>
          <a:xfrm>
            <a:off x="640080" y="4178880"/>
            <a:ext cx="3108600" cy="5482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1" name="Text 33"/>
          <p:cNvSpPr/>
          <p:nvPr/>
        </p:nvSpPr>
        <p:spPr>
          <a:xfrm>
            <a:off x="749880" y="4178880"/>
            <a:ext cx="2889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Excesso de confiança no automático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Shape 34"/>
          <p:cNvSpPr/>
          <p:nvPr/>
        </p:nvSpPr>
        <p:spPr>
          <a:xfrm>
            <a:off x="3749040" y="4178880"/>
            <a:ext cx="2925720" cy="5482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3" name="Text 35"/>
          <p:cNvSpPr/>
          <p:nvPr/>
        </p:nvSpPr>
        <p:spPr>
          <a:xfrm>
            <a:off x="3858840" y="4178880"/>
            <a:ext cx="2706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Decisão mal fundamentada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36"/>
          <p:cNvSpPr/>
          <p:nvPr/>
        </p:nvSpPr>
        <p:spPr>
          <a:xfrm>
            <a:off x="6675120" y="4178880"/>
            <a:ext cx="4845960" cy="5482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5" name="Text 37"/>
          <p:cNvSpPr/>
          <p:nvPr/>
        </p:nvSpPr>
        <p:spPr>
          <a:xfrm>
            <a:off x="6784920" y="4178880"/>
            <a:ext cx="462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0e7f76"/>
                </a:solidFill>
                <a:latin typeface="Calibri"/>
                <a:ea typeface="Calibri"/>
              </a:rPr>
              <a:t>Justificativa visível e decisão registrada em nome de pessoa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Shape 38"/>
          <p:cNvSpPr/>
          <p:nvPr/>
        </p:nvSpPr>
        <p:spPr>
          <a:xfrm>
            <a:off x="640080" y="4727520"/>
            <a:ext cx="3108600" cy="54828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7" name="Text 39"/>
          <p:cNvSpPr/>
          <p:nvPr/>
        </p:nvSpPr>
        <p:spPr>
          <a:xfrm>
            <a:off x="749880" y="4727520"/>
            <a:ext cx="2889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Mudança de estrutura do PPA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40"/>
          <p:cNvSpPr/>
          <p:nvPr/>
        </p:nvSpPr>
        <p:spPr>
          <a:xfrm>
            <a:off x="3749040" y="4727520"/>
            <a:ext cx="2925720" cy="54828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9" name="Text 41"/>
          <p:cNvSpPr/>
          <p:nvPr/>
        </p:nvSpPr>
        <p:spPr>
          <a:xfrm>
            <a:off x="3858840" y="4727520"/>
            <a:ext cx="2706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Quebra de série histórica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42"/>
          <p:cNvSpPr/>
          <p:nvPr/>
        </p:nvSpPr>
        <p:spPr>
          <a:xfrm>
            <a:off x="6675120" y="4727520"/>
            <a:ext cx="4845960" cy="54828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1" name="Text 43"/>
          <p:cNvSpPr/>
          <p:nvPr/>
        </p:nvSpPr>
        <p:spPr>
          <a:xfrm>
            <a:off x="6784920" y="4727520"/>
            <a:ext cx="462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0e7f76"/>
                </a:solidFill>
                <a:latin typeface="Calibri"/>
                <a:ea typeface="Calibri"/>
              </a:rPr>
              <a:t>Versionamento e mapeamento entre ciclos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44"/>
          <p:cNvSpPr/>
          <p:nvPr/>
        </p:nvSpPr>
        <p:spPr>
          <a:xfrm>
            <a:off x="640080" y="5276160"/>
            <a:ext cx="3108600" cy="5482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3" name="Text 45"/>
          <p:cNvSpPr/>
          <p:nvPr/>
        </p:nvSpPr>
        <p:spPr>
          <a:xfrm>
            <a:off x="749880" y="5276160"/>
            <a:ext cx="2889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Programa da LOA fora do PPA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46"/>
          <p:cNvSpPr/>
          <p:nvPr/>
        </p:nvSpPr>
        <p:spPr>
          <a:xfrm>
            <a:off x="3749040" y="5276160"/>
            <a:ext cx="2925720" cy="5482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5" name="Text 47"/>
          <p:cNvSpPr/>
          <p:nvPr/>
        </p:nvSpPr>
        <p:spPr>
          <a:xfrm>
            <a:off x="3858840" y="5276160"/>
            <a:ext cx="2706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Execução à margem do plano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48"/>
          <p:cNvSpPr/>
          <p:nvPr/>
        </p:nvSpPr>
        <p:spPr>
          <a:xfrm>
            <a:off x="6675120" y="5276160"/>
            <a:ext cx="4845960" cy="54828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7" name="Text 49"/>
          <p:cNvSpPr/>
          <p:nvPr/>
        </p:nvSpPr>
        <p:spPr>
          <a:xfrm>
            <a:off x="6784920" y="5276160"/>
            <a:ext cx="462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0e7f76"/>
                </a:solidFill>
                <a:latin typeface="Calibri"/>
                <a:ea typeface="Calibri"/>
              </a:rPr>
              <a:t>Conciliação por código, com exceção visível e registrada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Text 50"/>
          <p:cNvSpPr/>
          <p:nvPr/>
        </p:nvSpPr>
        <p:spPr>
          <a:xfrm>
            <a:off x="640080" y="589788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A matriz completa, com todos os riscos identificados, está na seção 11 do documento.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Text 51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11.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Text 52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25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SEÇÃO 12 · IMPLANTAÇÃO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Seis etapas, com piloto antes da expansão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2"/>
          <p:cNvSpPr/>
          <p:nvPr/>
        </p:nvSpPr>
        <p:spPr>
          <a:xfrm>
            <a:off x="640080" y="1645920"/>
            <a:ext cx="10881000" cy="61236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4" name="Shape 3"/>
          <p:cNvSpPr/>
          <p:nvPr/>
        </p:nvSpPr>
        <p:spPr>
          <a:xfrm>
            <a:off x="868680" y="176472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5" name="Text 4"/>
          <p:cNvSpPr/>
          <p:nvPr/>
        </p:nvSpPr>
        <p:spPr>
          <a:xfrm>
            <a:off x="8686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Text 5"/>
          <p:cNvSpPr/>
          <p:nvPr/>
        </p:nvSpPr>
        <p:spPr>
          <a:xfrm>
            <a:off x="1417320" y="1764720"/>
            <a:ext cx="301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Diagnóstico das fontes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Text 6"/>
          <p:cNvSpPr/>
          <p:nvPr/>
        </p:nvSpPr>
        <p:spPr>
          <a:xfrm>
            <a:off x="4572000" y="1764720"/>
            <a:ext cx="5028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Inventário de bases, campos disponíveis e forma de acesso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Text 7"/>
          <p:cNvSpPr/>
          <p:nvPr/>
        </p:nvSpPr>
        <p:spPr>
          <a:xfrm>
            <a:off x="9692640" y="1764720"/>
            <a:ext cx="1599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0e7f76"/>
                </a:solidFill>
                <a:latin typeface="Calibri"/>
                <a:ea typeface="Calibri"/>
              </a:rPr>
              <a:t>2 a 3 semanas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Shape 8"/>
          <p:cNvSpPr/>
          <p:nvPr/>
        </p:nvSpPr>
        <p:spPr>
          <a:xfrm>
            <a:off x="640080" y="2368440"/>
            <a:ext cx="10881000" cy="61236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0" name="Shape 9"/>
          <p:cNvSpPr/>
          <p:nvPr/>
        </p:nvSpPr>
        <p:spPr>
          <a:xfrm>
            <a:off x="868680" y="248724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1" name="Text 10"/>
          <p:cNvSpPr/>
          <p:nvPr/>
        </p:nvSpPr>
        <p:spPr>
          <a:xfrm>
            <a:off x="868680" y="24872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Text 11"/>
          <p:cNvSpPr/>
          <p:nvPr/>
        </p:nvSpPr>
        <p:spPr>
          <a:xfrm>
            <a:off x="1417320" y="2487240"/>
            <a:ext cx="301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Fases 1 e 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Text 12"/>
          <p:cNvSpPr/>
          <p:nvPr/>
        </p:nvSpPr>
        <p:spPr>
          <a:xfrm>
            <a:off x="4572000" y="2487240"/>
            <a:ext cx="5028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Extração e normalização de planejamento e execução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Text 13"/>
          <p:cNvSpPr/>
          <p:nvPr/>
        </p:nvSpPr>
        <p:spPr>
          <a:xfrm>
            <a:off x="9692640" y="2487240"/>
            <a:ext cx="1599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0e7f76"/>
                </a:solidFill>
                <a:latin typeface="Calibri"/>
                <a:ea typeface="Calibri"/>
              </a:rPr>
              <a:t>4 a 6 semanas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14"/>
          <p:cNvSpPr/>
          <p:nvPr/>
        </p:nvSpPr>
        <p:spPr>
          <a:xfrm>
            <a:off x="640080" y="3090600"/>
            <a:ext cx="10881000" cy="61236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6" name="Shape 15"/>
          <p:cNvSpPr/>
          <p:nvPr/>
        </p:nvSpPr>
        <p:spPr>
          <a:xfrm>
            <a:off x="868680" y="320940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7" name="Text 16"/>
          <p:cNvSpPr/>
          <p:nvPr/>
        </p:nvSpPr>
        <p:spPr>
          <a:xfrm>
            <a:off x="868680" y="3209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Text 17"/>
          <p:cNvSpPr/>
          <p:nvPr/>
        </p:nvSpPr>
        <p:spPr>
          <a:xfrm>
            <a:off x="1417320" y="3209400"/>
            <a:ext cx="301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Fase 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Text 18"/>
          <p:cNvSpPr/>
          <p:nvPr/>
        </p:nvSpPr>
        <p:spPr>
          <a:xfrm>
            <a:off x="4572000" y="3209400"/>
            <a:ext cx="5028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Módulo de custo por programa e custo unitário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Text 19"/>
          <p:cNvSpPr/>
          <p:nvPr/>
        </p:nvSpPr>
        <p:spPr>
          <a:xfrm>
            <a:off x="9692640" y="3209400"/>
            <a:ext cx="1599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0e7f76"/>
                </a:solidFill>
                <a:latin typeface="Calibri"/>
                <a:ea typeface="Calibri"/>
              </a:rPr>
              <a:t>4 semanas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20"/>
          <p:cNvSpPr/>
          <p:nvPr/>
        </p:nvSpPr>
        <p:spPr>
          <a:xfrm>
            <a:off x="640080" y="3813120"/>
            <a:ext cx="10881000" cy="61236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2" name="Shape 21"/>
          <p:cNvSpPr/>
          <p:nvPr/>
        </p:nvSpPr>
        <p:spPr>
          <a:xfrm>
            <a:off x="868680" y="393192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3" name="Text 22"/>
          <p:cNvSpPr/>
          <p:nvPr/>
        </p:nvSpPr>
        <p:spPr>
          <a:xfrm>
            <a:off x="868680" y="39319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Text 23"/>
          <p:cNvSpPr/>
          <p:nvPr/>
        </p:nvSpPr>
        <p:spPr>
          <a:xfrm>
            <a:off x="1417320" y="3931920"/>
            <a:ext cx="301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Fase 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Text 24"/>
          <p:cNvSpPr/>
          <p:nvPr/>
        </p:nvSpPr>
        <p:spPr>
          <a:xfrm>
            <a:off x="4572000" y="3931920"/>
            <a:ext cx="5028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Módulo de aderência contrato × finalidade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Text 25"/>
          <p:cNvSpPr/>
          <p:nvPr/>
        </p:nvSpPr>
        <p:spPr>
          <a:xfrm>
            <a:off x="9692640" y="3931920"/>
            <a:ext cx="1599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0e7f76"/>
                </a:solidFill>
                <a:latin typeface="Calibri"/>
                <a:ea typeface="Calibri"/>
              </a:rPr>
              <a:t>4 a 6 semanas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26"/>
          <p:cNvSpPr/>
          <p:nvPr/>
        </p:nvSpPr>
        <p:spPr>
          <a:xfrm>
            <a:off x="640080" y="4535280"/>
            <a:ext cx="10881000" cy="61236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8" name="Shape 27"/>
          <p:cNvSpPr/>
          <p:nvPr/>
        </p:nvSpPr>
        <p:spPr>
          <a:xfrm>
            <a:off x="868680" y="465444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9" name="Text 28"/>
          <p:cNvSpPr/>
          <p:nvPr/>
        </p:nvSpPr>
        <p:spPr>
          <a:xfrm>
            <a:off x="868680" y="46544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Text 29"/>
          <p:cNvSpPr/>
          <p:nvPr/>
        </p:nvSpPr>
        <p:spPr>
          <a:xfrm>
            <a:off x="1417320" y="4654440"/>
            <a:ext cx="301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Painel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Text 30"/>
          <p:cNvSpPr/>
          <p:nvPr/>
        </p:nvSpPr>
        <p:spPr>
          <a:xfrm>
            <a:off x="4572000" y="4654440"/>
            <a:ext cx="5028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Visões, alertas e trilha de auditoria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Text 31"/>
          <p:cNvSpPr/>
          <p:nvPr/>
        </p:nvSpPr>
        <p:spPr>
          <a:xfrm>
            <a:off x="9692640" y="4654440"/>
            <a:ext cx="1599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0e7f76"/>
                </a:solidFill>
                <a:latin typeface="Calibri"/>
                <a:ea typeface="Calibri"/>
              </a:rPr>
              <a:t>3 a 4 semanas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32"/>
          <p:cNvSpPr/>
          <p:nvPr/>
        </p:nvSpPr>
        <p:spPr>
          <a:xfrm>
            <a:off x="640080" y="5257800"/>
            <a:ext cx="10881000" cy="612360"/>
          </a:xfrm>
          <a:prstGeom prst="roundRect">
            <a:avLst>
              <a:gd name="adj" fmla="val 8955"/>
            </a:avLst>
          </a:prstGeom>
          <a:solidFill>
            <a:srgbClr val="edf2f7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4" name="Shape 33"/>
          <p:cNvSpPr/>
          <p:nvPr/>
        </p:nvSpPr>
        <p:spPr>
          <a:xfrm>
            <a:off x="868680" y="537660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5" name="Text 34"/>
          <p:cNvSpPr/>
          <p:nvPr/>
        </p:nvSpPr>
        <p:spPr>
          <a:xfrm>
            <a:off x="868680" y="53766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Text 35"/>
          <p:cNvSpPr/>
          <p:nvPr/>
        </p:nvSpPr>
        <p:spPr>
          <a:xfrm>
            <a:off x="1417320" y="5376600"/>
            <a:ext cx="301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Piloto assistido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Text 36"/>
          <p:cNvSpPr/>
          <p:nvPr/>
        </p:nvSpPr>
        <p:spPr>
          <a:xfrm>
            <a:off x="4572000" y="5376600"/>
            <a:ext cx="5028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Validação em programas selecionados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Text 37"/>
          <p:cNvSpPr/>
          <p:nvPr/>
        </p:nvSpPr>
        <p:spPr>
          <a:xfrm>
            <a:off x="9692640" y="5376600"/>
            <a:ext cx="1599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0e7f76"/>
                </a:solidFill>
                <a:latin typeface="Calibri"/>
                <a:ea typeface="Calibri"/>
              </a:rPr>
              <a:t>4 semanas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Text 38"/>
          <p:cNvSpPr/>
          <p:nvPr/>
        </p:nvSpPr>
        <p:spPr>
          <a:xfrm>
            <a:off x="640080" y="592524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Durações estimadas, dependentes do acesso às bases. O piloto começa por poucos programas de alta materialidade, o que permite calibrar critérios antes de ampliar.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Text 39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12.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Text 40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26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7fb6ae"/>
                </a:solidFill>
                <a:latin typeface="Calibri"/>
                <a:ea typeface="Calibri"/>
              </a:rPr>
              <a:t>SEÇÃO 13 · PRÓXIMOS PASSOS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ffffff"/>
                </a:solidFill>
                <a:latin typeface="Cambria"/>
                <a:ea typeface="Cambria"/>
              </a:rPr>
              <a:t>O que precisa ser decidido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Shape 2"/>
          <p:cNvSpPr/>
          <p:nvPr/>
        </p:nvSpPr>
        <p:spPr>
          <a:xfrm>
            <a:off x="640080" y="1783080"/>
            <a:ext cx="10881000" cy="621360"/>
          </a:xfrm>
          <a:prstGeom prst="roundRect">
            <a:avLst>
              <a:gd name="adj" fmla="val 8824"/>
            </a:avLst>
          </a:prstGeom>
          <a:solidFill>
            <a:srgbClr val="17385a"/>
          </a:solidFill>
          <a:ln w="12700">
            <a:solidFill>
              <a:srgbClr val="2c54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5" name="Shape 3"/>
          <p:cNvSpPr/>
          <p:nvPr/>
        </p:nvSpPr>
        <p:spPr>
          <a:xfrm>
            <a:off x="868680" y="190188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6" name="Text 4"/>
          <p:cNvSpPr/>
          <p:nvPr/>
        </p:nvSpPr>
        <p:spPr>
          <a:xfrm>
            <a:off x="868680" y="1901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7" name="Text 5"/>
          <p:cNvSpPr/>
          <p:nvPr/>
        </p:nvSpPr>
        <p:spPr>
          <a:xfrm>
            <a:off x="1417320" y="1901880"/>
            <a:ext cx="9875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dce6f0"/>
                </a:solidFill>
                <a:latin typeface="Calibri"/>
                <a:ea typeface="Calibri"/>
              </a:rPr>
              <a:t>Validar o escopo das quatro fases conforme a prioridade institucional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8" name="Shape 6"/>
          <p:cNvSpPr/>
          <p:nvPr/>
        </p:nvSpPr>
        <p:spPr>
          <a:xfrm>
            <a:off x="640080" y="2551320"/>
            <a:ext cx="10881000" cy="621360"/>
          </a:xfrm>
          <a:prstGeom prst="roundRect">
            <a:avLst>
              <a:gd name="adj" fmla="val 8824"/>
            </a:avLst>
          </a:prstGeom>
          <a:solidFill>
            <a:srgbClr val="17385a"/>
          </a:solidFill>
          <a:ln w="12700">
            <a:solidFill>
              <a:srgbClr val="2c54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9" name="Shape 7"/>
          <p:cNvSpPr/>
          <p:nvPr/>
        </p:nvSpPr>
        <p:spPr>
          <a:xfrm>
            <a:off x="868680" y="267012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0" name="Text 8"/>
          <p:cNvSpPr/>
          <p:nvPr/>
        </p:nvSpPr>
        <p:spPr>
          <a:xfrm>
            <a:off x="868680" y="26701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1" name="Text 9"/>
          <p:cNvSpPr/>
          <p:nvPr/>
        </p:nvSpPr>
        <p:spPr>
          <a:xfrm>
            <a:off x="1417320" y="2670120"/>
            <a:ext cx="9875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dce6f0"/>
                </a:solidFill>
                <a:latin typeface="Calibri"/>
                <a:ea typeface="Calibri"/>
              </a:rPr>
              <a:t>Definir os programas do piloto — alta materialidade e meta física bem definida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2" name="Shape 10"/>
          <p:cNvSpPr/>
          <p:nvPr/>
        </p:nvSpPr>
        <p:spPr>
          <a:xfrm>
            <a:off x="640080" y="3319200"/>
            <a:ext cx="10881000" cy="621360"/>
          </a:xfrm>
          <a:prstGeom prst="roundRect">
            <a:avLst>
              <a:gd name="adj" fmla="val 8824"/>
            </a:avLst>
          </a:prstGeom>
          <a:solidFill>
            <a:srgbClr val="17385a"/>
          </a:solidFill>
          <a:ln w="12700">
            <a:solidFill>
              <a:srgbClr val="2c54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3" name="Shape 11"/>
          <p:cNvSpPr/>
          <p:nvPr/>
        </p:nvSpPr>
        <p:spPr>
          <a:xfrm>
            <a:off x="868680" y="343800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4" name="Text 12"/>
          <p:cNvSpPr/>
          <p:nvPr/>
        </p:nvSpPr>
        <p:spPr>
          <a:xfrm>
            <a:off x="868680" y="34380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5" name="Text 13"/>
          <p:cNvSpPr/>
          <p:nvPr/>
        </p:nvSpPr>
        <p:spPr>
          <a:xfrm>
            <a:off x="1417320" y="3438000"/>
            <a:ext cx="9875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dce6f0"/>
                </a:solidFill>
                <a:latin typeface="Calibri"/>
                <a:ea typeface="Calibri"/>
              </a:rPr>
              <a:t>Levantar a forma de acesso a cada base: integração, exportação periódica ou carga manual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Shape 14"/>
          <p:cNvSpPr/>
          <p:nvPr/>
        </p:nvSpPr>
        <p:spPr>
          <a:xfrm>
            <a:off x="640080" y="4087440"/>
            <a:ext cx="10881000" cy="621360"/>
          </a:xfrm>
          <a:prstGeom prst="roundRect">
            <a:avLst>
              <a:gd name="adj" fmla="val 8824"/>
            </a:avLst>
          </a:prstGeom>
          <a:solidFill>
            <a:srgbClr val="17385a"/>
          </a:solidFill>
          <a:ln w="12700">
            <a:solidFill>
              <a:srgbClr val="2c54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7" name="Shape 15"/>
          <p:cNvSpPr/>
          <p:nvPr/>
        </p:nvSpPr>
        <p:spPr>
          <a:xfrm>
            <a:off x="868680" y="420624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8" name="Text 16"/>
          <p:cNvSpPr/>
          <p:nvPr/>
        </p:nvSpPr>
        <p:spPr>
          <a:xfrm>
            <a:off x="868680" y="42062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Text 17"/>
          <p:cNvSpPr/>
          <p:nvPr/>
        </p:nvSpPr>
        <p:spPr>
          <a:xfrm>
            <a:off x="1417320" y="4206240"/>
            <a:ext cx="9875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dce6f0"/>
                </a:solidFill>
                <a:latin typeface="Calibri"/>
                <a:ea typeface="Calibri"/>
              </a:rPr>
              <a:t>Definir o valor de corte para revisão humana obrigatória na análise de aderência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Shape 18"/>
          <p:cNvSpPr/>
          <p:nvPr/>
        </p:nvSpPr>
        <p:spPr>
          <a:xfrm>
            <a:off x="640080" y="4855320"/>
            <a:ext cx="10881000" cy="621360"/>
          </a:xfrm>
          <a:prstGeom prst="roundRect">
            <a:avLst>
              <a:gd name="adj" fmla="val 8824"/>
            </a:avLst>
          </a:prstGeom>
          <a:solidFill>
            <a:srgbClr val="17385a"/>
          </a:solidFill>
          <a:ln w="12700">
            <a:solidFill>
              <a:srgbClr val="2c54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1" name="Shape 19"/>
          <p:cNvSpPr/>
          <p:nvPr/>
        </p:nvSpPr>
        <p:spPr>
          <a:xfrm>
            <a:off x="868680" y="497448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2" name="Text 20"/>
          <p:cNvSpPr/>
          <p:nvPr/>
        </p:nvSpPr>
        <p:spPr>
          <a:xfrm>
            <a:off x="868680" y="4974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3" name="Text 21"/>
          <p:cNvSpPr/>
          <p:nvPr/>
        </p:nvSpPr>
        <p:spPr>
          <a:xfrm>
            <a:off x="1417320" y="4974480"/>
            <a:ext cx="9875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dce6f0"/>
                </a:solidFill>
                <a:latin typeface="Calibri"/>
                <a:ea typeface="Calibri"/>
              </a:rPr>
              <a:t>Designar os responsáveis por programa que validarão os resultados durante o piloto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4" name="Text 22"/>
          <p:cNvSpPr/>
          <p:nvPr/>
        </p:nvSpPr>
        <p:spPr>
          <a:xfrm>
            <a:off x="640080" y="576072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ffffff"/>
                </a:solidFill>
                <a:latin typeface="Cambria"/>
                <a:ea typeface="Cambria"/>
              </a:rPr>
              <a:t>Perguntas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5" name="Text 23"/>
          <p:cNvSpPr/>
          <p:nvPr/>
        </p:nvSpPr>
        <p:spPr>
          <a:xfrm>
            <a:off x="7315200" y="589788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50" spc="-1" strike="noStrike">
                <a:solidFill>
                  <a:srgbClr val="8fa8bf"/>
                </a:solidFill>
                <a:latin typeface="Calibri"/>
                <a:ea typeface="Calibri"/>
              </a:rPr>
              <a:t>Documento, seção 13.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2026-08-20T14:19:56Z</dcterms:created>
  <dc:creator>Equipe de Projeto</dc:creator>
  <dc:description/>
  <dc:language>en-US</dc:language>
  <cp:lastModifiedBy>Equipe de Projeto</cp:lastModifiedBy>
  <dcterms:modified xsi:type="dcterms:W3CDTF">2026-08-20T14:19:56Z</dcterms:modified>
  <cp:revision>1</cp:revision>
  <dc:subject>PptxGenJS Presentation</dc:subject>
  <dc:title>Painel de Custos e Aderência — apresentação completa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27</vt:r8>
  </property>
  <property fmtid="{D5CDD505-2E9C-101B-9397-08002B2CF9AE}" pid="3" name="PresentationFormat">
    <vt:lpwstr>On-screen Show (16:9)</vt:lpwstr>
  </property>
  <property fmtid="{D5CDD505-2E9C-101B-9397-08002B2CF9AE}" pid="4" name="Slides">
    <vt:r8>27</vt:r8>
  </property>
</Properties>
</file>