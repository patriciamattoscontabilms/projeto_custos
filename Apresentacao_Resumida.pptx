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B4C37CD-CACB-491A-A90C-1DBEBE62ED2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Abertura. Diga que existe uma versão completa da apresentação, seção por seção, caso queiram aprofundar depois.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97E60F-F2FC-47B9-9B14-F433FF27A406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Slide âncora. Se a plateia guardar uma coisa só, que sejam estas duas perguntas.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FADF45-3095-4EEA-ABE1-371A27B5D99C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 problema é estrutural: cada sistema foi desenhado para uma finalidade própria. Não é falha das equipes.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4C1736-9905-4D04-8B14-7AC5EC24176C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Volte a este slide sempre que mudar de fase. As fases 1 e 2 extraem; as 3 e 4 analisam.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1E0B57-8686-41C6-857A-4CCF7D946C7B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Dois pontos para sustentar em voz alta: a LOA autoriza o gasto e é nela que a liquidação se ancora; e a liquidação devolve quantidade, não só valor.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1B20B5-621B-4B90-AD2C-C1CFCAC18322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Conceito central da fase 3. A liquidação não devolve só dinheiro: nota fiscal e boletim de medição registram quantidades.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48EDD8-2487-4292-BA45-B0FAF5BF7F51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Percorra coluna por coluna. Nenhum dos três números, sozinho, contava a história.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FEF63C-1E2A-4EC1-8FAA-16294ECE4AF4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Se houver representante do controle interno, este é o slide dele. A saída da IA é um argumento conferível, não um carimbo.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35D493-6CCF-4F6E-ABB5-CA48A74C984A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Condensa três seções. Se perguntarem sobre segurança ou LGPD, a seção 10 do documento responde.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22A6D8-320B-4F9E-A49C-6E11FBFD8CEB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Apresentar riscos abertamente aumenta a confiança na proposta. A matriz completa está no documento.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866AF3-FE27-450A-B7BC-A390DDB4141F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Encerramento. Não termine sem responsável e data para cada uma das cinco decisões.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FB0473-DB51-4455-A33C-06017E98943D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822960" y="1463040"/>
            <a:ext cx="456840" cy="456840"/>
          </a:xfrm>
          <a:prstGeom prst="roundRect">
            <a:avLst>
              <a:gd name="adj" fmla="val 100000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1463040" y="15087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299" strike="noStrike">
                <a:solidFill>
                  <a:srgbClr val="9cc7c1"/>
                </a:solidFill>
                <a:latin typeface="Calibri"/>
                <a:ea typeface="Calibri"/>
              </a:rPr>
              <a:t>PROPOSTA DE SOLUÇÃO · VERSÃO RESUMIDA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822960" y="2194560"/>
            <a:ext cx="96008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5000"/>
              </a:lnSpc>
              <a:tabLst>
                <a:tab algn="l" pos="0"/>
              </a:tabLst>
            </a:pPr>
            <a:r>
              <a:rPr b="1" lang="pt-BR" sz="4200" spc="-1" strike="noStrike">
                <a:solidFill>
                  <a:srgbClr val="ffffff"/>
                </a:solidFill>
                <a:latin typeface="Cambria"/>
                <a:ea typeface="Cambria"/>
              </a:rPr>
              <a:t>Painel de Custos e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5000"/>
              </a:lnSpc>
              <a:tabLst>
                <a:tab algn="l" pos="0"/>
              </a:tabLst>
            </a:pPr>
            <a:r>
              <a:rPr b="1" lang="pt-BR" sz="4200" spc="-1" strike="noStrike">
                <a:solidFill>
                  <a:srgbClr val="ffffff"/>
                </a:solidFill>
                <a:latin typeface="Cambria"/>
                <a:ea typeface="Cambria"/>
              </a:rPr>
              <a:t>Aderência de Programas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40080" y="4114800"/>
            <a:ext cx="8595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b9c8d6"/>
                </a:solidFill>
                <a:latin typeface="Calibri"/>
                <a:ea typeface="Calibri"/>
              </a:rPr>
              <a:t>Planejamento, execução orçamentária e contratos integrados, com inteligência artificial para apurar o custo de cada programa e classificar a aderência dos contratos que o financiam.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822960" y="5212080"/>
            <a:ext cx="7863480" cy="566640"/>
          </a:xfrm>
          <a:prstGeom prst="roundRect">
            <a:avLst>
              <a:gd name="adj" fmla="val 12903"/>
            </a:avLst>
          </a:prstGeom>
          <a:solidFill>
            <a:srgbClr val="17385a"/>
          </a:solidFill>
          <a:ln w="12700">
            <a:solidFill>
              <a:srgbClr val="2c54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822960" y="5212080"/>
            <a:ext cx="7863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cbd9e6"/>
                </a:solidFill>
                <a:latin typeface="Calibri"/>
                <a:ea typeface="Calibri"/>
              </a:rPr>
              <a:t>O documento entregue detalha cada ponto — estes slides são o essencial.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POR QUE ESTE PROJETO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Duas perguntas sem resposta rápida hoje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640080" y="1600200"/>
            <a:ext cx="10881000" cy="14626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0e7f76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960120" y="187452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960120" y="1874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1554480" y="18378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100" spc="-1" strike="noStrike">
                <a:solidFill>
                  <a:srgbClr val="0f2a44"/>
                </a:solidFill>
                <a:latin typeface="Cambria"/>
                <a:ea typeface="Cambria"/>
              </a:rPr>
              <a:t>Quanto custa, de fato, cada programa?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1554480" y="2350080"/>
            <a:ext cx="9417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c6e80"/>
                </a:solidFill>
                <a:latin typeface="Calibri"/>
                <a:ea typeface="Calibri"/>
              </a:rPr>
              <a:t>Confrontando as metas físicas e financeiras do plano — PPA para o quadriênio, LOA para o exercício — com as quantidades e os valores liquidados.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640080" y="3291840"/>
            <a:ext cx="10881000" cy="14626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b9791c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960120" y="356616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960120" y="3566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1554480" y="352944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100" spc="-1" strike="noStrike">
                <a:solidFill>
                  <a:srgbClr val="0f2a44"/>
                </a:solidFill>
                <a:latin typeface="Cambria"/>
                <a:ea typeface="Cambria"/>
              </a:rPr>
              <a:t>O contrato atende à finalidade do programa?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1554480" y="4041720"/>
            <a:ext cx="9417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5c6e80"/>
                </a:solidFill>
                <a:latin typeface="Calibri"/>
                <a:ea typeface="Calibri"/>
              </a:rPr>
              <a:t>Comparando o objeto contratual com a finalidade, o objetivo e o público-alvo declarados no programa que custeia o contrato.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2"/>
          <p:cNvSpPr/>
          <p:nvPr/>
        </p:nvSpPr>
        <p:spPr>
          <a:xfrm>
            <a:off x="640080" y="5029200"/>
            <a:ext cx="10881000" cy="1051200"/>
          </a:xfrm>
          <a:prstGeom prst="roundRect">
            <a:avLst>
              <a:gd name="adj" fmla="val 5217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932760" y="5193720"/>
            <a:ext cx="1029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O que passa a existir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932760" y="5559480"/>
            <a:ext cx="1029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Custo por programa, por ação e por unidade entregue. Conciliação entre o previsto no plano e o autorizado no orçamento. Classificação de aderência de cada contrato, com justificativa e nível de confiança. Desvios detectados ainda durante o exercício, não no fechamento.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seções 1 e 2.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6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O DIAGNÓSTICO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Bases com estruturas próprias, sem ligação analítica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640080" y="1600200"/>
            <a:ext cx="3428640" cy="1599840"/>
          </a:xfrm>
          <a:prstGeom prst="roundRect">
            <a:avLst>
              <a:gd name="adj" fmla="val 3429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3"/>
          <p:cNvSpPr/>
          <p:nvPr/>
        </p:nvSpPr>
        <p:spPr>
          <a:xfrm>
            <a:off x="914400" y="18014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0f2a44"/>
                </a:solidFill>
                <a:latin typeface="Cambria"/>
                <a:ea typeface="Cambria"/>
              </a:rPr>
              <a:t>Planejamento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914400" y="2194560"/>
            <a:ext cx="2925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PPA para quatro anos, LDO com as prioridades do ano e LOA fixando a despesa do exercício.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5"/>
          <p:cNvSpPr/>
          <p:nvPr/>
        </p:nvSpPr>
        <p:spPr>
          <a:xfrm>
            <a:off x="4343400" y="1600200"/>
            <a:ext cx="3428640" cy="1599840"/>
          </a:xfrm>
          <a:prstGeom prst="roundRect">
            <a:avLst>
              <a:gd name="adj" fmla="val 3429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6"/>
          <p:cNvSpPr/>
          <p:nvPr/>
        </p:nvSpPr>
        <p:spPr>
          <a:xfrm>
            <a:off x="4617720" y="18014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0f2a44"/>
                </a:solidFill>
                <a:latin typeface="Cambria"/>
                <a:ea typeface="Cambria"/>
              </a:rPr>
              <a:t>Execução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7"/>
          <p:cNvSpPr/>
          <p:nvPr/>
        </p:nvSpPr>
        <p:spPr>
          <a:xfrm>
            <a:off x="4617720" y="2194560"/>
            <a:ext cx="2925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Empenho, liquidação e pagamento, registrados nos sistemas orçamentário e financeiro.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8"/>
          <p:cNvSpPr/>
          <p:nvPr/>
        </p:nvSpPr>
        <p:spPr>
          <a:xfrm>
            <a:off x="8046720" y="1600200"/>
            <a:ext cx="3428640" cy="1599840"/>
          </a:xfrm>
          <a:prstGeom prst="roundRect">
            <a:avLst>
              <a:gd name="adj" fmla="val 3429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9"/>
          <p:cNvSpPr/>
          <p:nvPr/>
        </p:nvSpPr>
        <p:spPr>
          <a:xfrm>
            <a:off x="8321040" y="18014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0f2a44"/>
                </a:solidFill>
                <a:latin typeface="Cambria"/>
                <a:ea typeface="Cambria"/>
              </a:rPr>
              <a:t>Contratos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0"/>
          <p:cNvSpPr/>
          <p:nvPr/>
        </p:nvSpPr>
        <p:spPr>
          <a:xfrm>
            <a:off x="8321040" y="2194560"/>
            <a:ext cx="2925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5c6e80"/>
                </a:solidFill>
                <a:latin typeface="Calibri"/>
                <a:ea typeface="Calibri"/>
              </a:rPr>
              <a:t>Objeto, valor, vigência e fornecedor, descritos em linguagem livre.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640080" y="342900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f2a44"/>
                </a:solidFill>
                <a:latin typeface="Cambria"/>
                <a:ea typeface="Cambria"/>
              </a:rPr>
              <a:t>O dado existe. Falta a ligação entre eles.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2"/>
          <p:cNvSpPr/>
          <p:nvPr/>
        </p:nvSpPr>
        <p:spPr>
          <a:xfrm>
            <a:off x="676800" y="423360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13"/>
          <p:cNvSpPr/>
          <p:nvPr/>
        </p:nvSpPr>
        <p:spPr>
          <a:xfrm>
            <a:off x="951120" y="4114800"/>
            <a:ext cx="1056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450" spc="-1" strike="noStrike">
                <a:solidFill>
                  <a:srgbClr val="374b5e"/>
                </a:solidFill>
                <a:latin typeface="Calibri"/>
                <a:ea typeface="Calibri"/>
              </a:rPr>
              <a:t>O custo real só é conhecido no fechamento do exercício, quando corrigir a rota já não é possível.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4"/>
          <p:cNvSpPr/>
          <p:nvPr/>
        </p:nvSpPr>
        <p:spPr>
          <a:xfrm>
            <a:off x="676800" y="478224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5"/>
          <p:cNvSpPr/>
          <p:nvPr/>
        </p:nvSpPr>
        <p:spPr>
          <a:xfrm>
            <a:off x="951120" y="4663440"/>
            <a:ext cx="1056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450" spc="-1" strike="noStrike">
                <a:solidFill>
                  <a:srgbClr val="374b5e"/>
                </a:solidFill>
                <a:latin typeface="Calibri"/>
                <a:ea typeface="Calibri"/>
              </a:rPr>
              <a:t>A comparação entre meta e liquidação só é possível em planilha, de forma pontual e não auditável.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6"/>
          <p:cNvSpPr/>
          <p:nvPr/>
        </p:nvSpPr>
        <p:spPr>
          <a:xfrm>
            <a:off x="676800" y="533088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17"/>
          <p:cNvSpPr/>
          <p:nvPr/>
        </p:nvSpPr>
        <p:spPr>
          <a:xfrm>
            <a:off x="951120" y="5212080"/>
            <a:ext cx="1056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450" spc="-1" strike="noStrike">
                <a:solidFill>
                  <a:srgbClr val="374b5e"/>
                </a:solidFill>
                <a:latin typeface="Calibri"/>
                <a:ea typeface="Calibri"/>
              </a:rPr>
              <a:t>Verificar se cada contrato serve à finalidade depende de leitura humana, inviável no volume contratado.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8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2.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9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VISÃO GERAL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As trilhas e onde elas se encontram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640080" y="1481400"/>
            <a:ext cx="3017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199" strike="noStrike">
                <a:solidFill>
                  <a:srgbClr val="5c6e80"/>
                </a:solidFill>
                <a:latin typeface="Calibri"/>
                <a:ea typeface="Calibri"/>
              </a:rPr>
              <a:t>ENTRADA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4617720" y="1481400"/>
            <a:ext cx="3017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199" strike="noStrike">
                <a:solidFill>
                  <a:srgbClr val="0e7f76"/>
                </a:solidFill>
                <a:latin typeface="Calibri"/>
                <a:ea typeface="Calibri"/>
              </a:rPr>
              <a:t>CRUZAMENTO COM 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8595360" y="148140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199" strike="noStrike">
                <a:solidFill>
                  <a:srgbClr val="5c6e80"/>
                </a:solidFill>
                <a:latin typeface="Calibri"/>
                <a:ea typeface="Calibri"/>
              </a:rPr>
              <a:t>ENTREGA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640080" y="1710000"/>
            <a:ext cx="3017160" cy="1051200"/>
          </a:xfrm>
          <a:prstGeom prst="roundRect">
            <a:avLst>
              <a:gd name="adj" fmla="val 5217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868680" y="185616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Planejamento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868680" y="2167200"/>
            <a:ext cx="2697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5c6e80"/>
                </a:solidFill>
                <a:latin typeface="Calibri"/>
                <a:ea typeface="Calibri"/>
              </a:rPr>
              <a:t>PPA (quadriênio) e LOA (exercício) › Programa › Ação › Metas física e financeira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8"/>
          <p:cNvSpPr/>
          <p:nvPr/>
        </p:nvSpPr>
        <p:spPr>
          <a:xfrm>
            <a:off x="640080" y="2999160"/>
            <a:ext cx="3017160" cy="1051200"/>
          </a:xfrm>
          <a:prstGeom prst="roundRect">
            <a:avLst>
              <a:gd name="adj" fmla="val 5217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868680" y="314568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Execução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868680" y="3456360"/>
            <a:ext cx="2697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5c6e80"/>
                </a:solidFill>
                <a:latin typeface="Calibri"/>
                <a:ea typeface="Calibri"/>
              </a:rPr>
              <a:t>Empenho › Liquidação (valor e quantidade) › Pagamento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11"/>
          <p:cNvSpPr/>
          <p:nvPr/>
        </p:nvSpPr>
        <p:spPr>
          <a:xfrm>
            <a:off x="640080" y="4260960"/>
            <a:ext cx="3017160" cy="1051200"/>
          </a:xfrm>
          <a:prstGeom prst="roundRect">
            <a:avLst>
              <a:gd name="adj" fmla="val 5217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2"/>
          <p:cNvSpPr/>
          <p:nvPr/>
        </p:nvSpPr>
        <p:spPr>
          <a:xfrm>
            <a:off x="868680" y="440748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Contratos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3"/>
          <p:cNvSpPr/>
          <p:nvPr/>
        </p:nvSpPr>
        <p:spPr>
          <a:xfrm>
            <a:off x="868680" y="4718160"/>
            <a:ext cx="2697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5c6e80"/>
                </a:solidFill>
                <a:latin typeface="Calibri"/>
                <a:ea typeface="Calibri"/>
              </a:rPr>
              <a:t>Objeto › Valor › Vigência › Dotação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4"/>
          <p:cNvSpPr/>
          <p:nvPr/>
        </p:nvSpPr>
        <p:spPr>
          <a:xfrm>
            <a:off x="4617720" y="1828800"/>
            <a:ext cx="3017160" cy="17002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0e7f76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5"/>
          <p:cNvSpPr/>
          <p:nvPr/>
        </p:nvSpPr>
        <p:spPr>
          <a:xfrm>
            <a:off x="4846320" y="203004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6"/>
          <p:cNvSpPr/>
          <p:nvPr/>
        </p:nvSpPr>
        <p:spPr>
          <a:xfrm>
            <a:off x="4846320" y="2030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7"/>
          <p:cNvSpPr/>
          <p:nvPr/>
        </p:nvSpPr>
        <p:spPr>
          <a:xfrm>
            <a:off x="5321880" y="203004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IA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8"/>
          <p:cNvSpPr/>
          <p:nvPr/>
        </p:nvSpPr>
        <p:spPr>
          <a:xfrm>
            <a:off x="4846320" y="251460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Custo do programa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9"/>
          <p:cNvSpPr/>
          <p:nvPr/>
        </p:nvSpPr>
        <p:spPr>
          <a:xfrm>
            <a:off x="4754880" y="2853000"/>
            <a:ext cx="2697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5c6e80"/>
                </a:solidFill>
                <a:latin typeface="Calibri"/>
                <a:ea typeface="Calibri"/>
              </a:rPr>
              <a:t>Metas do plano × valor e quantidade liquidados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20"/>
          <p:cNvSpPr/>
          <p:nvPr/>
        </p:nvSpPr>
        <p:spPr>
          <a:xfrm>
            <a:off x="4617720" y="3776400"/>
            <a:ext cx="3017160" cy="17002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b9791c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21"/>
          <p:cNvSpPr/>
          <p:nvPr/>
        </p:nvSpPr>
        <p:spPr>
          <a:xfrm>
            <a:off x="4846320" y="3977640"/>
            <a:ext cx="383760" cy="383760"/>
          </a:xfrm>
          <a:prstGeom prst="roundRect">
            <a:avLst>
              <a:gd name="adj" fmla="val 119048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22"/>
          <p:cNvSpPr/>
          <p:nvPr/>
        </p:nvSpPr>
        <p:spPr>
          <a:xfrm>
            <a:off x="4846320" y="39776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23"/>
          <p:cNvSpPr/>
          <p:nvPr/>
        </p:nvSpPr>
        <p:spPr>
          <a:xfrm>
            <a:off x="5321880" y="3977640"/>
            <a:ext cx="914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b9791c"/>
                </a:solidFill>
                <a:latin typeface="Calibri"/>
                <a:ea typeface="Calibri"/>
              </a:rPr>
              <a:t>IA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24"/>
          <p:cNvSpPr/>
          <p:nvPr/>
        </p:nvSpPr>
        <p:spPr>
          <a:xfrm>
            <a:off x="4846320" y="446220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f2a44"/>
                </a:solidFill>
                <a:latin typeface="Cambria"/>
                <a:ea typeface="Cambria"/>
              </a:rPr>
              <a:t>Aderência contratual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25"/>
          <p:cNvSpPr/>
          <p:nvPr/>
        </p:nvSpPr>
        <p:spPr>
          <a:xfrm>
            <a:off x="4754880" y="4800600"/>
            <a:ext cx="2697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5c6e80"/>
                </a:solidFill>
                <a:latin typeface="Calibri"/>
                <a:ea typeface="Calibri"/>
              </a:rPr>
              <a:t>Objeto do contrato × finalidade do programa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6"/>
          <p:cNvSpPr/>
          <p:nvPr/>
        </p:nvSpPr>
        <p:spPr>
          <a:xfrm>
            <a:off x="8595360" y="1828800"/>
            <a:ext cx="2925720" cy="3529080"/>
          </a:xfrm>
          <a:prstGeom prst="roundRect">
            <a:avLst>
              <a:gd name="adj" fmla="val 1875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27"/>
          <p:cNvSpPr/>
          <p:nvPr/>
        </p:nvSpPr>
        <p:spPr>
          <a:xfrm>
            <a:off x="8851320" y="20574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ambria"/>
                <a:ea typeface="Cambria"/>
              </a:rPr>
              <a:t>Painel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8"/>
          <p:cNvSpPr/>
          <p:nvPr/>
        </p:nvSpPr>
        <p:spPr>
          <a:xfrm>
            <a:off x="8888040" y="272484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5fa9a0"/>
          </a:solidFill>
          <a:ln w="12700">
            <a:solidFill>
              <a:srgbClr val="5fa9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29"/>
          <p:cNvSpPr/>
          <p:nvPr/>
        </p:nvSpPr>
        <p:spPr>
          <a:xfrm>
            <a:off x="9162360" y="2606040"/>
            <a:ext cx="215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c3d2e0"/>
                </a:solidFill>
                <a:latin typeface="Calibri"/>
                <a:ea typeface="Calibri"/>
              </a:rPr>
              <a:t>Custo por programa e por meta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30"/>
          <p:cNvSpPr/>
          <p:nvPr/>
        </p:nvSpPr>
        <p:spPr>
          <a:xfrm>
            <a:off x="8888040" y="315468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5fa9a0"/>
          </a:solidFill>
          <a:ln w="12700">
            <a:solidFill>
              <a:srgbClr val="5fa9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31"/>
          <p:cNvSpPr/>
          <p:nvPr/>
        </p:nvSpPr>
        <p:spPr>
          <a:xfrm>
            <a:off x="9162360" y="3035880"/>
            <a:ext cx="215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c3d2e0"/>
                </a:solidFill>
                <a:latin typeface="Calibri"/>
                <a:ea typeface="Calibri"/>
              </a:rPr>
              <a:t>Custo unitário e desvio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32"/>
          <p:cNvSpPr/>
          <p:nvPr/>
        </p:nvSpPr>
        <p:spPr>
          <a:xfrm>
            <a:off x="8888040" y="358452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5fa9a0"/>
          </a:solidFill>
          <a:ln w="12700">
            <a:solidFill>
              <a:srgbClr val="5fa9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33"/>
          <p:cNvSpPr/>
          <p:nvPr/>
        </p:nvSpPr>
        <p:spPr>
          <a:xfrm>
            <a:off x="9162360" y="3465720"/>
            <a:ext cx="215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c3d2e0"/>
                </a:solidFill>
                <a:latin typeface="Calibri"/>
                <a:ea typeface="Calibri"/>
              </a:rPr>
              <a:t>Ritmo de execução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4"/>
          <p:cNvSpPr/>
          <p:nvPr/>
        </p:nvSpPr>
        <p:spPr>
          <a:xfrm>
            <a:off x="8888040" y="401436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5fa9a0"/>
          </a:solidFill>
          <a:ln w="12700">
            <a:solidFill>
              <a:srgbClr val="5fa9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35"/>
          <p:cNvSpPr/>
          <p:nvPr/>
        </p:nvSpPr>
        <p:spPr>
          <a:xfrm>
            <a:off x="9162360" y="3895200"/>
            <a:ext cx="215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c3d2e0"/>
                </a:solidFill>
                <a:latin typeface="Calibri"/>
                <a:ea typeface="Calibri"/>
              </a:rPr>
              <a:t>Classificação de aderência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6"/>
          <p:cNvSpPr/>
          <p:nvPr/>
        </p:nvSpPr>
        <p:spPr>
          <a:xfrm>
            <a:off x="8888040" y="444384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5fa9a0"/>
          </a:solidFill>
          <a:ln w="12700">
            <a:solidFill>
              <a:srgbClr val="5fa9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37"/>
          <p:cNvSpPr/>
          <p:nvPr/>
        </p:nvSpPr>
        <p:spPr>
          <a:xfrm>
            <a:off x="9162360" y="4325040"/>
            <a:ext cx="215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c3d2e0"/>
                </a:solidFill>
                <a:latin typeface="Calibri"/>
                <a:ea typeface="Calibri"/>
              </a:rPr>
              <a:t>Fila de alertas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8"/>
          <p:cNvSpPr/>
          <p:nvPr/>
        </p:nvSpPr>
        <p:spPr>
          <a:xfrm>
            <a:off x="8888040" y="487368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5fa9a0"/>
          </a:solidFill>
          <a:ln w="12700">
            <a:solidFill>
              <a:srgbClr val="5fa9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9"/>
          <p:cNvSpPr/>
          <p:nvPr/>
        </p:nvSpPr>
        <p:spPr>
          <a:xfrm>
            <a:off x="9162360" y="4754880"/>
            <a:ext cx="215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c3d2e0"/>
                </a:solidFill>
                <a:latin typeface="Calibri"/>
                <a:ea typeface="Calibri"/>
              </a:rPr>
              <a:t>Trilha até a origem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40"/>
          <p:cNvSpPr/>
          <p:nvPr/>
        </p:nvSpPr>
        <p:spPr>
          <a:xfrm>
            <a:off x="3749040" y="2240280"/>
            <a:ext cx="777240" cy="360"/>
          </a:xfrm>
          <a:prstGeom prst="line">
            <a:avLst/>
          </a:prstGeom>
          <a:ln w="22225">
            <a:solidFill>
              <a:srgbClr val="8f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41"/>
          <p:cNvSpPr/>
          <p:nvPr/>
        </p:nvSpPr>
        <p:spPr>
          <a:xfrm>
            <a:off x="3749040" y="3401280"/>
            <a:ext cx="777240" cy="360"/>
          </a:xfrm>
          <a:prstGeom prst="line">
            <a:avLst/>
          </a:prstGeom>
          <a:ln w="22225">
            <a:solidFill>
              <a:srgbClr val="8f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42"/>
          <p:cNvSpPr/>
          <p:nvPr/>
        </p:nvSpPr>
        <p:spPr>
          <a:xfrm>
            <a:off x="3749040" y="4791240"/>
            <a:ext cx="777240" cy="360"/>
          </a:xfrm>
          <a:prstGeom prst="line">
            <a:avLst/>
          </a:prstGeom>
          <a:ln w="22225">
            <a:solidFill>
              <a:srgbClr val="8f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43"/>
          <p:cNvSpPr/>
          <p:nvPr/>
        </p:nvSpPr>
        <p:spPr>
          <a:xfrm>
            <a:off x="7726680" y="2679120"/>
            <a:ext cx="777240" cy="360"/>
          </a:xfrm>
          <a:prstGeom prst="line">
            <a:avLst/>
          </a:prstGeom>
          <a:ln w="22225">
            <a:solidFill>
              <a:srgbClr val="8f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44"/>
          <p:cNvSpPr/>
          <p:nvPr/>
        </p:nvSpPr>
        <p:spPr>
          <a:xfrm>
            <a:off x="7726680" y="4626720"/>
            <a:ext cx="777240" cy="360"/>
          </a:xfrm>
          <a:prstGeom prst="line">
            <a:avLst/>
          </a:prstGeom>
          <a:ln w="22225">
            <a:solidFill>
              <a:srgbClr val="8f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45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3.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46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FASES 1 E 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O que é extraído, e de onde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640080" y="1371600"/>
            <a:ext cx="1088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5c6e80"/>
                </a:solidFill>
                <a:latin typeface="Calibri"/>
                <a:ea typeface="Calibri"/>
              </a:rPr>
              <a:t>Nenhuma análise acontece aqui: as duas primeiras fases extraem, padronizam e registram a origem de cada campo.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3"/>
          <p:cNvSpPr/>
          <p:nvPr/>
        </p:nvSpPr>
        <p:spPr>
          <a:xfrm>
            <a:off x="640080" y="1920240"/>
            <a:ext cx="5211720" cy="310860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0e7f76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4"/>
          <p:cNvSpPr/>
          <p:nvPr/>
        </p:nvSpPr>
        <p:spPr>
          <a:xfrm>
            <a:off x="932760" y="210312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0f2a44"/>
                </a:solidFill>
                <a:latin typeface="Cambria"/>
                <a:ea typeface="Cambria"/>
              </a:rPr>
              <a:t>Fase 1 — Planejamento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932760" y="2578680"/>
            <a:ext cx="4663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0e7f76"/>
                </a:solidFill>
                <a:latin typeface="Calibri"/>
                <a:ea typeface="Calibri"/>
              </a:rPr>
              <a:t>PPA · quatro anos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932760" y="283464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374b5e"/>
                </a:solidFill>
                <a:latin typeface="Calibri"/>
                <a:ea typeface="Calibri"/>
              </a:rPr>
              <a:t>Programa, objetivo, finalidade, público-alvo, ação, produto, unidade de medida, metas física e financeira por exercício.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7"/>
          <p:cNvSpPr/>
          <p:nvPr/>
        </p:nvSpPr>
        <p:spPr>
          <a:xfrm>
            <a:off x="932760" y="3401640"/>
            <a:ext cx="4663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0e7f76"/>
                </a:solidFill>
                <a:latin typeface="Calibri"/>
                <a:ea typeface="Calibri"/>
              </a:rPr>
              <a:t>LDO · exercício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8"/>
          <p:cNvSpPr/>
          <p:nvPr/>
        </p:nvSpPr>
        <p:spPr>
          <a:xfrm>
            <a:off x="932760" y="365760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374b5e"/>
                </a:solidFill>
                <a:latin typeface="Calibri"/>
                <a:ea typeface="Calibri"/>
              </a:rPr>
              <a:t>Prioridades do ano e metas fiscais.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9"/>
          <p:cNvSpPr/>
          <p:nvPr/>
        </p:nvSpPr>
        <p:spPr>
          <a:xfrm>
            <a:off x="932760" y="4224600"/>
            <a:ext cx="4663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0e7f76"/>
                </a:solidFill>
                <a:latin typeface="Calibri"/>
                <a:ea typeface="Calibri"/>
              </a:rPr>
              <a:t>LOA · exercício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0"/>
          <p:cNvSpPr/>
          <p:nvPr/>
        </p:nvSpPr>
        <p:spPr>
          <a:xfrm>
            <a:off x="932760" y="448056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374b5e"/>
                </a:solidFill>
                <a:latin typeface="Calibri"/>
                <a:ea typeface="Calibri"/>
              </a:rPr>
              <a:t>Mesmo código de programa e ação, dotação por ação, unidade gestora, função, natureza e fonte.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1"/>
          <p:cNvSpPr/>
          <p:nvPr/>
        </p:nvSpPr>
        <p:spPr>
          <a:xfrm>
            <a:off x="6217920" y="1920240"/>
            <a:ext cx="5211720" cy="310860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b9791c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2"/>
          <p:cNvSpPr/>
          <p:nvPr/>
        </p:nvSpPr>
        <p:spPr>
          <a:xfrm>
            <a:off x="6510600" y="210312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0f2a44"/>
                </a:solidFill>
                <a:latin typeface="Cambria"/>
                <a:ea typeface="Cambria"/>
              </a:rPr>
              <a:t>Fase 2 — Execução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3"/>
          <p:cNvSpPr/>
          <p:nvPr/>
        </p:nvSpPr>
        <p:spPr>
          <a:xfrm>
            <a:off x="6510600" y="2578680"/>
            <a:ext cx="4663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b9791c"/>
                </a:solidFill>
                <a:latin typeface="Calibri"/>
                <a:ea typeface="Calibri"/>
              </a:rPr>
              <a:t>Empenho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4"/>
          <p:cNvSpPr/>
          <p:nvPr/>
        </p:nvSpPr>
        <p:spPr>
          <a:xfrm>
            <a:off x="6510600" y="283464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374b5e"/>
                </a:solidFill>
                <a:latin typeface="Calibri"/>
                <a:ea typeface="Calibri"/>
              </a:rPr>
              <a:t>Reserva de dotação: número, valor, credor, ação vinculada.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5"/>
          <p:cNvSpPr/>
          <p:nvPr/>
        </p:nvSpPr>
        <p:spPr>
          <a:xfrm>
            <a:off x="6510600" y="3401640"/>
            <a:ext cx="4663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b9791c"/>
                </a:solidFill>
                <a:latin typeface="Calibri"/>
                <a:ea typeface="Calibri"/>
              </a:rPr>
              <a:t>Liquidação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6"/>
          <p:cNvSpPr/>
          <p:nvPr/>
        </p:nvSpPr>
        <p:spPr>
          <a:xfrm>
            <a:off x="6510600" y="365760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374b5e"/>
                </a:solidFill>
                <a:latin typeface="Calibri"/>
                <a:ea typeface="Calibri"/>
              </a:rPr>
              <a:t>Marco do custo: valor liquidado e quantidade registrada na nota fiscal ou no boletim de medição.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17"/>
          <p:cNvSpPr/>
          <p:nvPr/>
        </p:nvSpPr>
        <p:spPr>
          <a:xfrm>
            <a:off x="6510600" y="4224600"/>
            <a:ext cx="4663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00" spc="-1" strike="noStrike">
                <a:solidFill>
                  <a:srgbClr val="b9791c"/>
                </a:solidFill>
                <a:latin typeface="Calibri"/>
                <a:ea typeface="Calibri"/>
              </a:rPr>
              <a:t>Pagamento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8"/>
          <p:cNvSpPr/>
          <p:nvPr/>
        </p:nvSpPr>
        <p:spPr>
          <a:xfrm>
            <a:off x="6510600" y="448056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374b5e"/>
                </a:solidFill>
                <a:latin typeface="Calibri"/>
                <a:ea typeface="Calibri"/>
              </a:rPr>
              <a:t>Saída de caixa, mantida como camada complementar.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19"/>
          <p:cNvSpPr/>
          <p:nvPr/>
        </p:nvSpPr>
        <p:spPr>
          <a:xfrm>
            <a:off x="640080" y="5166360"/>
            <a:ext cx="10881000" cy="959760"/>
          </a:xfrm>
          <a:prstGeom prst="roundRect">
            <a:avLst>
              <a:gd name="adj" fmla="val 5714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20"/>
          <p:cNvSpPr/>
          <p:nvPr/>
        </p:nvSpPr>
        <p:spPr>
          <a:xfrm>
            <a:off x="932760" y="5330880"/>
            <a:ext cx="1029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ffffff"/>
                </a:solidFill>
                <a:latin typeface="Cambria"/>
                <a:ea typeface="Cambria"/>
              </a:rPr>
              <a:t>Duas regras que sustentam o resto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21"/>
          <p:cNvSpPr/>
          <p:nvPr/>
        </p:nvSpPr>
        <p:spPr>
          <a:xfrm>
            <a:off x="932760" y="5696640"/>
            <a:ext cx="1029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c3d2e0"/>
                </a:solidFill>
                <a:latin typeface="Calibri"/>
                <a:ea typeface="Calibri"/>
              </a:rPr>
              <a:t>A conciliação: o programa da LOA deve ser o mesmo do PPA, com igual código de programa e de ação — divergência vira exceção registrada, nunca ajuste silencioso. A rastreabilidade: todo campo carrega documento de origem, página e data da extração.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22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seções 4 e 5.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23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7fb6ae"/>
                </a:solidFill>
                <a:latin typeface="Calibri"/>
                <a:ea typeface="Calibri"/>
              </a:rPr>
              <a:t>FASE 3 · CUSTO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ffffff"/>
                </a:solidFill>
                <a:latin typeface="Cambria"/>
                <a:ea typeface="Cambria"/>
              </a:rPr>
              <a:t>Não é um cruzamento, são dois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2"/>
          <p:cNvSpPr/>
          <p:nvPr/>
        </p:nvSpPr>
        <p:spPr>
          <a:xfrm>
            <a:off x="640080" y="1481400"/>
            <a:ext cx="9692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b9c8d6"/>
                </a:solidFill>
                <a:latin typeface="Calibri"/>
                <a:ea typeface="Calibri"/>
              </a:rPr>
              <a:t>O plano prevê duas metas e a liquidação devolve duas medidas: quanto foi gasto e quanto foi entregue.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3"/>
          <p:cNvSpPr/>
          <p:nvPr/>
        </p:nvSpPr>
        <p:spPr>
          <a:xfrm>
            <a:off x="822960" y="2148840"/>
            <a:ext cx="10515240" cy="987120"/>
          </a:xfrm>
          <a:prstGeom prst="roundRect">
            <a:avLst>
              <a:gd name="adj" fmla="val 5556"/>
            </a:avLst>
          </a:prstGeom>
          <a:solidFill>
            <a:srgbClr val="17385a"/>
          </a:solidFill>
          <a:ln w="12700">
            <a:solidFill>
              <a:srgbClr val="2c54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4"/>
          <p:cNvSpPr/>
          <p:nvPr/>
        </p:nvSpPr>
        <p:spPr>
          <a:xfrm>
            <a:off x="1097280" y="229500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ffffff"/>
                </a:solidFill>
                <a:latin typeface="Cambria"/>
                <a:ea typeface="Cambria"/>
              </a:rPr>
              <a:t>Meta física prevista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5"/>
          <p:cNvSpPr/>
          <p:nvPr/>
        </p:nvSpPr>
        <p:spPr>
          <a:xfrm>
            <a:off x="1097280" y="262440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9cc7c1"/>
                </a:solidFill>
                <a:latin typeface="Calibri"/>
                <a:ea typeface="Calibri"/>
              </a:rPr>
              <a:t>no PPA e na LDO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6"/>
          <p:cNvSpPr/>
          <p:nvPr/>
        </p:nvSpPr>
        <p:spPr>
          <a:xfrm>
            <a:off x="4069080" y="240480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rgbClr val="7fb6ae"/>
                </a:solidFill>
                <a:latin typeface="Cambria"/>
                <a:ea typeface="Cambria"/>
              </a:rPr>
              <a:t>×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7"/>
          <p:cNvSpPr/>
          <p:nvPr/>
        </p:nvSpPr>
        <p:spPr>
          <a:xfrm>
            <a:off x="4572000" y="229500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ffffff"/>
                </a:solidFill>
                <a:latin typeface="Cambria"/>
                <a:ea typeface="Cambria"/>
              </a:rPr>
              <a:t>Quantidade apurada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8"/>
          <p:cNvSpPr/>
          <p:nvPr/>
        </p:nvSpPr>
        <p:spPr>
          <a:xfrm>
            <a:off x="4572000" y="262440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9cc7c1"/>
                </a:solidFill>
                <a:latin typeface="Calibri"/>
                <a:ea typeface="Calibri"/>
              </a:rPr>
              <a:t>na liquidação: nota fiscal, boletim de medição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9"/>
          <p:cNvSpPr/>
          <p:nvPr/>
        </p:nvSpPr>
        <p:spPr>
          <a:xfrm>
            <a:off x="8549640" y="240480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7fb6ae"/>
                </a:solidFill>
                <a:latin typeface="Cambria"/>
                <a:ea typeface="Cambria"/>
              </a:rPr>
              <a:t>→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10"/>
          <p:cNvSpPr/>
          <p:nvPr/>
        </p:nvSpPr>
        <p:spPr>
          <a:xfrm>
            <a:off x="9006840" y="2295000"/>
            <a:ext cx="2194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50" spc="-1" strike="noStrike">
                <a:solidFill>
                  <a:srgbClr val="6fd0c4"/>
                </a:solidFill>
                <a:latin typeface="Cambria"/>
                <a:ea typeface="Cambria"/>
              </a:rPr>
              <a:t>Execução da entrega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11"/>
          <p:cNvSpPr/>
          <p:nvPr/>
        </p:nvSpPr>
        <p:spPr>
          <a:xfrm>
            <a:off x="822960" y="3319200"/>
            <a:ext cx="10515240" cy="987120"/>
          </a:xfrm>
          <a:prstGeom prst="roundRect">
            <a:avLst>
              <a:gd name="adj" fmla="val 5556"/>
            </a:avLst>
          </a:prstGeom>
          <a:solidFill>
            <a:srgbClr val="17385a"/>
          </a:solidFill>
          <a:ln w="12700">
            <a:solidFill>
              <a:srgbClr val="2c54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12"/>
          <p:cNvSpPr/>
          <p:nvPr/>
        </p:nvSpPr>
        <p:spPr>
          <a:xfrm>
            <a:off x="1097280" y="346572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ffffff"/>
                </a:solidFill>
                <a:latin typeface="Cambria"/>
                <a:ea typeface="Cambria"/>
              </a:rPr>
              <a:t>Meta financeira prevista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13"/>
          <p:cNvSpPr/>
          <p:nvPr/>
        </p:nvSpPr>
        <p:spPr>
          <a:xfrm>
            <a:off x="1097280" y="379476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9cc7c1"/>
                </a:solidFill>
                <a:latin typeface="Calibri"/>
                <a:ea typeface="Calibri"/>
              </a:rPr>
              <a:t>no PPA e na LOA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14"/>
          <p:cNvSpPr/>
          <p:nvPr/>
        </p:nvSpPr>
        <p:spPr>
          <a:xfrm>
            <a:off x="4069080" y="357516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2200" spc="-1" strike="noStrike">
                <a:solidFill>
                  <a:srgbClr val="7fb6ae"/>
                </a:solidFill>
                <a:latin typeface="Cambria"/>
                <a:ea typeface="Cambria"/>
              </a:rPr>
              <a:t>×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15"/>
          <p:cNvSpPr/>
          <p:nvPr/>
        </p:nvSpPr>
        <p:spPr>
          <a:xfrm>
            <a:off x="4572000" y="346572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ffffff"/>
                </a:solidFill>
                <a:latin typeface="Cambria"/>
                <a:ea typeface="Cambria"/>
              </a:rPr>
              <a:t>Valor liquidado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16"/>
          <p:cNvSpPr/>
          <p:nvPr/>
        </p:nvSpPr>
        <p:spPr>
          <a:xfrm>
            <a:off x="4572000" y="379476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9cc7c1"/>
                </a:solidFill>
                <a:latin typeface="Calibri"/>
                <a:ea typeface="Calibri"/>
              </a:rPr>
              <a:t>despesa reconhecida no período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17"/>
          <p:cNvSpPr/>
          <p:nvPr/>
        </p:nvSpPr>
        <p:spPr>
          <a:xfrm>
            <a:off x="8549640" y="357516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7fb6ae"/>
                </a:solidFill>
                <a:latin typeface="Cambria"/>
                <a:ea typeface="Cambria"/>
              </a:rPr>
              <a:t>→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8"/>
          <p:cNvSpPr/>
          <p:nvPr/>
        </p:nvSpPr>
        <p:spPr>
          <a:xfrm>
            <a:off x="9006840" y="3465720"/>
            <a:ext cx="2194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50" spc="-1" strike="noStrike">
                <a:solidFill>
                  <a:srgbClr val="6fd0c4"/>
                </a:solidFill>
                <a:latin typeface="Cambria"/>
                <a:ea typeface="Cambria"/>
              </a:rPr>
              <a:t>Execução financeira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19"/>
          <p:cNvSpPr/>
          <p:nvPr/>
        </p:nvSpPr>
        <p:spPr>
          <a:xfrm>
            <a:off x="822960" y="4572000"/>
            <a:ext cx="10515240" cy="822600"/>
          </a:xfrm>
          <a:prstGeom prst="roundRect">
            <a:avLst>
              <a:gd name="adj" fmla="val 6667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20"/>
          <p:cNvSpPr/>
          <p:nvPr/>
        </p:nvSpPr>
        <p:spPr>
          <a:xfrm>
            <a:off x="1097280" y="4690800"/>
            <a:ext cx="2194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ffffff"/>
                </a:solidFill>
                <a:latin typeface="Cambria"/>
                <a:ea typeface="Cambria"/>
              </a:rPr>
              <a:t>As duas juntas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21"/>
          <p:cNvSpPr/>
          <p:nvPr/>
        </p:nvSpPr>
        <p:spPr>
          <a:xfrm>
            <a:off x="3291840" y="4690800"/>
            <a:ext cx="7863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50" spc="-1" strike="noStrike">
                <a:solidFill>
                  <a:srgbClr val="dcedeb"/>
                </a:solidFill>
                <a:latin typeface="Calibri"/>
                <a:ea typeface="Calibri"/>
              </a:rPr>
              <a:t>valor liquidado ÷ quantidade liquidada = custo de cada unidade, comparado ao que o plano previa gastar por unidade.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22"/>
          <p:cNvSpPr/>
          <p:nvPr/>
        </p:nvSpPr>
        <p:spPr>
          <a:xfrm>
            <a:off x="640080" y="557784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b9c8d6"/>
                </a:solidFill>
                <a:latin typeface="Calibri"/>
                <a:ea typeface="Calibri"/>
              </a:rPr>
              <a:t>O trabalho pesado da inteligência artificial está em decidir o que se compara com o quê: metas descritas de formas diferentes, unidade da nota fiscal distinta da unidade da meta, despesa que serve a mais de uma ação.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FASE 3 · CUSTO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O cálculo, passo a passo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"/>
          <p:cNvSpPr/>
          <p:nvPr/>
        </p:nvSpPr>
        <p:spPr>
          <a:xfrm>
            <a:off x="8686800" y="384120"/>
            <a:ext cx="2834280" cy="310680"/>
          </a:xfrm>
          <a:prstGeom prst="roundRect">
            <a:avLst>
              <a:gd name="adj" fmla="val 14706"/>
            </a:avLst>
          </a:prstGeom>
          <a:solidFill>
            <a:srgbClr val="fbf3e3"/>
          </a:solidFill>
          <a:ln w="12700">
            <a:solidFill>
              <a:srgbClr val="e7cf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3"/>
          <p:cNvSpPr/>
          <p:nvPr/>
        </p:nvSpPr>
        <p:spPr>
          <a:xfrm>
            <a:off x="8686800" y="384120"/>
            <a:ext cx="2834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b9791c"/>
                </a:solidFill>
                <a:latin typeface="Calibri"/>
                <a:ea typeface="Calibri"/>
              </a:rPr>
              <a:t>EXEMPLO ILUSTRATIVO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4"/>
          <p:cNvSpPr/>
          <p:nvPr/>
        </p:nvSpPr>
        <p:spPr>
          <a:xfrm>
            <a:off x="640080" y="137160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5c6e80"/>
                </a:solidFill>
                <a:latin typeface="Calibri"/>
                <a:ea typeface="Calibri"/>
              </a:rPr>
              <a:t>Ação de pavimentação asfáltica, valores fictícios, apenas para acompanhar o encadeamento.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5"/>
          <p:cNvSpPr/>
          <p:nvPr/>
        </p:nvSpPr>
        <p:spPr>
          <a:xfrm>
            <a:off x="640080" y="1874520"/>
            <a:ext cx="2514240" cy="292572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0e7f76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6"/>
          <p:cNvSpPr/>
          <p:nvPr/>
        </p:nvSpPr>
        <p:spPr>
          <a:xfrm>
            <a:off x="914400" y="2103120"/>
            <a:ext cx="328680" cy="328680"/>
          </a:xfrm>
          <a:prstGeom prst="roundRect">
            <a:avLst>
              <a:gd name="adj" fmla="val 138889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914400" y="21031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8"/>
          <p:cNvSpPr/>
          <p:nvPr/>
        </p:nvSpPr>
        <p:spPr>
          <a:xfrm>
            <a:off x="1353240" y="208476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48" strike="noStrike">
                <a:solidFill>
                  <a:srgbClr val="0e7f76"/>
                </a:solidFill>
                <a:latin typeface="Calibri"/>
                <a:ea typeface="Calibri"/>
              </a:rPr>
              <a:t>No PPA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9"/>
          <p:cNvSpPr/>
          <p:nvPr/>
        </p:nvSpPr>
        <p:spPr>
          <a:xfrm>
            <a:off x="914400" y="2633400"/>
            <a:ext cx="2057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Meta física: 12 km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Meta financeira: R$ 9.800.000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10"/>
          <p:cNvSpPr/>
          <p:nvPr/>
        </p:nvSpPr>
        <p:spPr>
          <a:xfrm>
            <a:off x="914400" y="3611880"/>
            <a:ext cx="2011320" cy="9597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1"/>
          <p:cNvSpPr/>
          <p:nvPr/>
        </p:nvSpPr>
        <p:spPr>
          <a:xfrm>
            <a:off x="1024200" y="3703320"/>
            <a:ext cx="1828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0f2a44"/>
                </a:solidFill>
                <a:latin typeface="Calibri"/>
                <a:ea typeface="Calibri"/>
              </a:rPr>
              <a:t>Custo unitário planejado: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0f2a44"/>
                </a:solidFill>
                <a:latin typeface="Calibri"/>
                <a:ea typeface="Calibri"/>
              </a:rPr>
              <a:t>R$ 816.667 por km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12"/>
          <p:cNvSpPr/>
          <p:nvPr/>
        </p:nvSpPr>
        <p:spPr>
          <a:xfrm>
            <a:off x="3218400" y="3291840"/>
            <a:ext cx="146520" cy="360"/>
          </a:xfrm>
          <a:prstGeom prst="line">
            <a:avLst/>
          </a:prstGeom>
          <a:ln w="22225">
            <a:solidFill>
              <a:srgbClr val="8f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3"/>
          <p:cNvSpPr/>
          <p:nvPr/>
        </p:nvSpPr>
        <p:spPr>
          <a:xfrm>
            <a:off x="3429000" y="1874520"/>
            <a:ext cx="2514240" cy="292572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0e7f76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4"/>
          <p:cNvSpPr/>
          <p:nvPr/>
        </p:nvSpPr>
        <p:spPr>
          <a:xfrm>
            <a:off x="3703320" y="2103120"/>
            <a:ext cx="328680" cy="328680"/>
          </a:xfrm>
          <a:prstGeom prst="roundRect">
            <a:avLst>
              <a:gd name="adj" fmla="val 138889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15"/>
          <p:cNvSpPr/>
          <p:nvPr/>
        </p:nvSpPr>
        <p:spPr>
          <a:xfrm>
            <a:off x="3703320" y="21031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6"/>
          <p:cNvSpPr/>
          <p:nvPr/>
        </p:nvSpPr>
        <p:spPr>
          <a:xfrm>
            <a:off x="4142160" y="208476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48" strike="noStrike">
                <a:solidFill>
                  <a:srgbClr val="0e7f76"/>
                </a:solidFill>
                <a:latin typeface="Calibri"/>
                <a:ea typeface="Calibri"/>
              </a:rPr>
              <a:t>Na execução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7"/>
          <p:cNvSpPr/>
          <p:nvPr/>
        </p:nvSpPr>
        <p:spPr>
          <a:xfrm>
            <a:off x="3703320" y="2633400"/>
            <a:ext cx="2057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Liquidado no período: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R$ 7.350.000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18"/>
          <p:cNvSpPr/>
          <p:nvPr/>
        </p:nvSpPr>
        <p:spPr>
          <a:xfrm>
            <a:off x="3703320" y="3611880"/>
            <a:ext cx="2011320" cy="9597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19"/>
          <p:cNvSpPr/>
          <p:nvPr/>
        </p:nvSpPr>
        <p:spPr>
          <a:xfrm>
            <a:off x="3813120" y="3703320"/>
            <a:ext cx="1828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0f2a44"/>
                </a:solidFill>
                <a:latin typeface="Calibri"/>
                <a:ea typeface="Calibri"/>
              </a:rPr>
              <a:t>Execução financeira: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0f2a44"/>
                </a:solidFill>
                <a:latin typeface="Calibri"/>
                <a:ea typeface="Calibri"/>
              </a:rPr>
              <a:t>75% da meta financeira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20"/>
          <p:cNvSpPr/>
          <p:nvPr/>
        </p:nvSpPr>
        <p:spPr>
          <a:xfrm>
            <a:off x="6007320" y="3291840"/>
            <a:ext cx="146520" cy="360"/>
          </a:xfrm>
          <a:prstGeom prst="line">
            <a:avLst/>
          </a:prstGeom>
          <a:ln w="22225">
            <a:solidFill>
              <a:srgbClr val="8f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21"/>
          <p:cNvSpPr/>
          <p:nvPr/>
        </p:nvSpPr>
        <p:spPr>
          <a:xfrm>
            <a:off x="6217920" y="1874520"/>
            <a:ext cx="2514240" cy="292572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b9791c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22"/>
          <p:cNvSpPr/>
          <p:nvPr/>
        </p:nvSpPr>
        <p:spPr>
          <a:xfrm>
            <a:off x="6492240" y="2103120"/>
            <a:ext cx="328680" cy="328680"/>
          </a:xfrm>
          <a:prstGeom prst="roundRect">
            <a:avLst>
              <a:gd name="adj" fmla="val 138889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23"/>
          <p:cNvSpPr/>
          <p:nvPr/>
        </p:nvSpPr>
        <p:spPr>
          <a:xfrm>
            <a:off x="6492240" y="21031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24"/>
          <p:cNvSpPr/>
          <p:nvPr/>
        </p:nvSpPr>
        <p:spPr>
          <a:xfrm>
            <a:off x="6931080" y="208476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48" strike="noStrike">
                <a:solidFill>
                  <a:srgbClr val="b9791c"/>
                </a:solidFill>
                <a:latin typeface="Calibri"/>
                <a:ea typeface="Calibri"/>
              </a:rPr>
              <a:t>Na entrega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25"/>
          <p:cNvSpPr/>
          <p:nvPr/>
        </p:nvSpPr>
        <p:spPr>
          <a:xfrm>
            <a:off x="6492240" y="2633400"/>
            <a:ext cx="2057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Quantidade nas liquidações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(boletins de medição): 8 km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26"/>
          <p:cNvSpPr/>
          <p:nvPr/>
        </p:nvSpPr>
        <p:spPr>
          <a:xfrm>
            <a:off x="6492240" y="3611880"/>
            <a:ext cx="2011320" cy="9597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27"/>
          <p:cNvSpPr/>
          <p:nvPr/>
        </p:nvSpPr>
        <p:spPr>
          <a:xfrm>
            <a:off x="6602040" y="3703320"/>
            <a:ext cx="1828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0f2a44"/>
                </a:solidFill>
                <a:latin typeface="Calibri"/>
                <a:ea typeface="Calibri"/>
              </a:rPr>
              <a:t>Execução da meta física: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0f2a44"/>
                </a:solidFill>
                <a:latin typeface="Calibri"/>
                <a:ea typeface="Calibri"/>
              </a:rPr>
              <a:t>66,7% do prometido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28"/>
          <p:cNvSpPr/>
          <p:nvPr/>
        </p:nvSpPr>
        <p:spPr>
          <a:xfrm>
            <a:off x="8796240" y="3291840"/>
            <a:ext cx="146520" cy="360"/>
          </a:xfrm>
          <a:prstGeom prst="line">
            <a:avLst/>
          </a:prstGeom>
          <a:ln w="22225">
            <a:solidFill>
              <a:srgbClr val="8fa3b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29"/>
          <p:cNvSpPr/>
          <p:nvPr/>
        </p:nvSpPr>
        <p:spPr>
          <a:xfrm>
            <a:off x="9006840" y="1874520"/>
            <a:ext cx="2514240" cy="292572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b9791c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30"/>
          <p:cNvSpPr/>
          <p:nvPr/>
        </p:nvSpPr>
        <p:spPr>
          <a:xfrm>
            <a:off x="9281160" y="2103120"/>
            <a:ext cx="328680" cy="328680"/>
          </a:xfrm>
          <a:prstGeom prst="roundRect">
            <a:avLst>
              <a:gd name="adj" fmla="val 138889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31"/>
          <p:cNvSpPr/>
          <p:nvPr/>
        </p:nvSpPr>
        <p:spPr>
          <a:xfrm>
            <a:off x="9281160" y="21031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32"/>
          <p:cNvSpPr/>
          <p:nvPr/>
        </p:nvSpPr>
        <p:spPr>
          <a:xfrm>
            <a:off x="9720000" y="208476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48" strike="noStrike">
                <a:solidFill>
                  <a:srgbClr val="b9791c"/>
                </a:solidFill>
                <a:latin typeface="Calibri"/>
                <a:ea typeface="Calibri"/>
              </a:rPr>
              <a:t>No cruzamento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33"/>
          <p:cNvSpPr/>
          <p:nvPr/>
        </p:nvSpPr>
        <p:spPr>
          <a:xfrm>
            <a:off x="9281160" y="2633400"/>
            <a:ext cx="2057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Custo unitário apurado: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R$ 918.750 por km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34"/>
          <p:cNvSpPr/>
          <p:nvPr/>
        </p:nvSpPr>
        <p:spPr>
          <a:xfrm>
            <a:off x="9281160" y="3611880"/>
            <a:ext cx="2011320" cy="9597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35"/>
          <p:cNvSpPr/>
          <p:nvPr/>
        </p:nvSpPr>
        <p:spPr>
          <a:xfrm>
            <a:off x="9390960" y="3703320"/>
            <a:ext cx="1828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0f2a44"/>
                </a:solidFill>
                <a:latin typeface="Calibri"/>
                <a:ea typeface="Calibri"/>
              </a:rPr>
              <a:t>Desvio: 1,13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0f2a44"/>
                </a:solidFill>
                <a:latin typeface="Calibri"/>
                <a:ea typeface="Calibri"/>
              </a:rPr>
              <a:t>sobrecusto de 13%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36"/>
          <p:cNvSpPr/>
          <p:nvPr/>
        </p:nvSpPr>
        <p:spPr>
          <a:xfrm>
            <a:off x="640080" y="5029200"/>
            <a:ext cx="10881000" cy="959760"/>
          </a:xfrm>
          <a:prstGeom prst="roundRect">
            <a:avLst>
              <a:gd name="adj" fmla="val 5714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37"/>
          <p:cNvSpPr/>
          <p:nvPr/>
        </p:nvSpPr>
        <p:spPr>
          <a:xfrm>
            <a:off x="932760" y="5193720"/>
            <a:ext cx="1029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Sobrecusto não é sobrepreço nem superfaturamento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38"/>
          <p:cNvSpPr/>
          <p:nvPr/>
        </p:nvSpPr>
        <p:spPr>
          <a:xfrm>
            <a:off x="932760" y="5559480"/>
            <a:ext cx="1029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O desvio indica onde a diferença é grande o bastante para merecer explicação — e a explicação pode ser inteiramente legítima: insumo que encareceu, escopo revisado, condição de execução mais difícil. O indicador tria e prioriza; não conclui.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39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6.2.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40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FASE 4 · ADERÊNCIA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Como o contrato é classificado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2"/>
          <p:cNvSpPr/>
          <p:nvPr/>
        </p:nvSpPr>
        <p:spPr>
          <a:xfrm>
            <a:off x="640080" y="137160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pt-BR" sz="1400" spc="-1" strike="noStrike">
                <a:solidFill>
                  <a:srgbClr val="5c6e80"/>
                </a:solidFill>
                <a:latin typeface="Calibri"/>
                <a:ea typeface="Calibri"/>
              </a:rPr>
              <a:t>De um lado, a finalidade, o objetivo e o público-alvo do programa. De outro, o objeto contratado, a justificativa e os itens.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640080" y="1920240"/>
            <a:ext cx="2514240" cy="1371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4"/>
          <p:cNvSpPr/>
          <p:nvPr/>
        </p:nvSpPr>
        <p:spPr>
          <a:xfrm>
            <a:off x="896040" y="2139840"/>
            <a:ext cx="182520" cy="182520"/>
          </a:xfrm>
          <a:prstGeom prst="roundRect">
            <a:avLst>
              <a:gd name="adj" fmla="val 250000"/>
            </a:avLst>
          </a:prstGeom>
          <a:solidFill>
            <a:srgbClr val="2e7d5b"/>
          </a:solidFill>
          <a:ln w="12700">
            <a:solidFill>
              <a:srgbClr val="2e7d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5"/>
          <p:cNvSpPr/>
          <p:nvPr/>
        </p:nvSpPr>
        <p:spPr>
          <a:xfrm>
            <a:off x="896040" y="2395800"/>
            <a:ext cx="2057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Aderente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6"/>
          <p:cNvSpPr/>
          <p:nvPr/>
        </p:nvSpPr>
        <p:spPr>
          <a:xfrm>
            <a:off x="896040" y="283464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5c6e80"/>
                </a:solidFill>
                <a:latin typeface="Calibri"/>
                <a:ea typeface="Calibri"/>
              </a:rPr>
              <a:t>Serve diretamente à finalidade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7"/>
          <p:cNvSpPr/>
          <p:nvPr/>
        </p:nvSpPr>
        <p:spPr>
          <a:xfrm>
            <a:off x="3429000" y="1920240"/>
            <a:ext cx="2514240" cy="1371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8"/>
          <p:cNvSpPr/>
          <p:nvPr/>
        </p:nvSpPr>
        <p:spPr>
          <a:xfrm>
            <a:off x="3684960" y="2139840"/>
            <a:ext cx="182520" cy="182520"/>
          </a:xfrm>
          <a:prstGeom prst="roundRect">
            <a:avLst>
              <a:gd name="adj" fmla="val 250000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9"/>
          <p:cNvSpPr/>
          <p:nvPr/>
        </p:nvSpPr>
        <p:spPr>
          <a:xfrm>
            <a:off x="3684960" y="2395800"/>
            <a:ext cx="2057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Parcialmente aderente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10"/>
          <p:cNvSpPr/>
          <p:nvPr/>
        </p:nvSpPr>
        <p:spPr>
          <a:xfrm>
            <a:off x="3684960" y="283464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5c6e80"/>
                </a:solidFill>
                <a:latin typeface="Calibri"/>
                <a:ea typeface="Calibri"/>
              </a:rPr>
              <a:t>Parte do objeto extrapola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11"/>
          <p:cNvSpPr/>
          <p:nvPr/>
        </p:nvSpPr>
        <p:spPr>
          <a:xfrm>
            <a:off x="6217920" y="1920240"/>
            <a:ext cx="2514240" cy="1371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2"/>
          <p:cNvSpPr/>
          <p:nvPr/>
        </p:nvSpPr>
        <p:spPr>
          <a:xfrm>
            <a:off x="6473880" y="2139840"/>
            <a:ext cx="182520" cy="182520"/>
          </a:xfrm>
          <a:prstGeom prst="roundRect">
            <a:avLst>
              <a:gd name="adj" fmla="val 250000"/>
            </a:avLst>
          </a:prstGeom>
          <a:solidFill>
            <a:srgbClr val="a33b3b"/>
          </a:solidFill>
          <a:ln w="12700">
            <a:solidFill>
              <a:srgbClr val="a33b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6473880" y="2395800"/>
            <a:ext cx="2057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Não aderente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4"/>
          <p:cNvSpPr/>
          <p:nvPr/>
        </p:nvSpPr>
        <p:spPr>
          <a:xfrm>
            <a:off x="6473880" y="283464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5c6e80"/>
                </a:solidFill>
                <a:latin typeface="Calibri"/>
                <a:ea typeface="Calibri"/>
              </a:rPr>
              <a:t>Sem relação identificável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5"/>
          <p:cNvSpPr/>
          <p:nvPr/>
        </p:nvSpPr>
        <p:spPr>
          <a:xfrm>
            <a:off x="9006840" y="1920240"/>
            <a:ext cx="2514240" cy="1371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16"/>
          <p:cNvSpPr/>
          <p:nvPr/>
        </p:nvSpPr>
        <p:spPr>
          <a:xfrm>
            <a:off x="9262800" y="2139840"/>
            <a:ext cx="182520" cy="182520"/>
          </a:xfrm>
          <a:prstGeom prst="roundRect">
            <a:avLst>
              <a:gd name="adj" fmla="val 250000"/>
            </a:avLst>
          </a:prstGeom>
          <a:solidFill>
            <a:srgbClr val="6b7b8c"/>
          </a:solidFill>
          <a:ln w="12700">
            <a:solidFill>
              <a:srgbClr val="6b7b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17"/>
          <p:cNvSpPr/>
          <p:nvPr/>
        </p:nvSpPr>
        <p:spPr>
          <a:xfrm>
            <a:off x="9262800" y="2395800"/>
            <a:ext cx="2057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Inconclusivo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8"/>
          <p:cNvSpPr/>
          <p:nvPr/>
        </p:nvSpPr>
        <p:spPr>
          <a:xfrm>
            <a:off x="9262800" y="283464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5c6e80"/>
                </a:solidFill>
                <a:latin typeface="Calibri"/>
                <a:ea typeface="Calibri"/>
              </a:rPr>
              <a:t>Objeto genérico demais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19"/>
          <p:cNvSpPr/>
          <p:nvPr/>
        </p:nvSpPr>
        <p:spPr>
          <a:xfrm>
            <a:off x="640080" y="3520440"/>
            <a:ext cx="5303160" cy="187416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20"/>
          <p:cNvSpPr/>
          <p:nvPr/>
        </p:nvSpPr>
        <p:spPr>
          <a:xfrm>
            <a:off x="932760" y="370332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0f2a44"/>
                </a:solidFill>
                <a:latin typeface="Cambria"/>
                <a:ea typeface="Cambria"/>
              </a:rPr>
              <a:t>Cada análise devolve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21"/>
          <p:cNvSpPr/>
          <p:nvPr/>
        </p:nvSpPr>
        <p:spPr>
          <a:xfrm>
            <a:off x="969120" y="423360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22"/>
          <p:cNvSpPr/>
          <p:nvPr/>
        </p:nvSpPr>
        <p:spPr>
          <a:xfrm>
            <a:off x="1243440" y="4114800"/>
            <a:ext cx="444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374b5e"/>
                </a:solidFill>
                <a:latin typeface="Calibri"/>
                <a:ea typeface="Calibri"/>
              </a:rPr>
              <a:t>Classificação em um dos quatro níveis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23"/>
          <p:cNvSpPr/>
          <p:nvPr/>
        </p:nvSpPr>
        <p:spPr>
          <a:xfrm>
            <a:off x="969120" y="454464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24"/>
          <p:cNvSpPr/>
          <p:nvPr/>
        </p:nvSpPr>
        <p:spPr>
          <a:xfrm>
            <a:off x="1243440" y="4425840"/>
            <a:ext cx="444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374b5e"/>
                </a:solidFill>
                <a:latin typeface="Calibri"/>
                <a:ea typeface="Calibri"/>
              </a:rPr>
              <a:t>Justificativa com os trechos citados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25"/>
          <p:cNvSpPr/>
          <p:nvPr/>
        </p:nvSpPr>
        <p:spPr>
          <a:xfrm>
            <a:off x="969120" y="485532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26"/>
          <p:cNvSpPr/>
          <p:nvPr/>
        </p:nvSpPr>
        <p:spPr>
          <a:xfrm>
            <a:off x="1243440" y="4736520"/>
            <a:ext cx="444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374b5e"/>
                </a:solidFill>
                <a:latin typeface="Calibri"/>
                <a:ea typeface="Calibri"/>
              </a:rPr>
              <a:t>Nível de confiança da análise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27"/>
          <p:cNvSpPr/>
          <p:nvPr/>
        </p:nvSpPr>
        <p:spPr>
          <a:xfrm>
            <a:off x="969120" y="516636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28"/>
          <p:cNvSpPr/>
          <p:nvPr/>
        </p:nvSpPr>
        <p:spPr>
          <a:xfrm>
            <a:off x="1243440" y="5047560"/>
            <a:ext cx="444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374b5e"/>
                </a:solidFill>
                <a:latin typeface="Calibri"/>
                <a:ea typeface="Calibri"/>
              </a:rPr>
              <a:t>Referência ao documento de origem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29"/>
          <p:cNvSpPr/>
          <p:nvPr/>
        </p:nvSpPr>
        <p:spPr>
          <a:xfrm>
            <a:off x="6217920" y="3520440"/>
            <a:ext cx="5303160" cy="1874160"/>
          </a:xfrm>
          <a:prstGeom prst="roundRect">
            <a:avLst>
              <a:gd name="adj" fmla="val 2927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30"/>
          <p:cNvSpPr/>
          <p:nvPr/>
        </p:nvSpPr>
        <p:spPr>
          <a:xfrm>
            <a:off x="6510600" y="370332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ffffff"/>
                </a:solidFill>
                <a:latin typeface="Cambria"/>
                <a:ea typeface="Cambria"/>
              </a:rPr>
              <a:t>A decisão continua humana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31"/>
          <p:cNvSpPr/>
          <p:nvPr/>
        </p:nvSpPr>
        <p:spPr>
          <a:xfrm>
            <a:off x="6510600" y="4114800"/>
            <a:ext cx="47088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c3d2e0"/>
                </a:solidFill>
                <a:latin typeface="Calibri"/>
                <a:ea typeface="Calibri"/>
              </a:rPr>
              <a:t>A classificação é triagem e priorização. Vão obrigatoriamente para revisão humana os casos não aderentes, os inconclusivos, os acima do valor de corte e os de baixa confiança. A conclusão publicada tem responsável identificado.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32"/>
          <p:cNvSpPr/>
          <p:nvPr/>
        </p:nvSpPr>
        <p:spPr>
          <a:xfrm>
            <a:off x="640080" y="5532120"/>
            <a:ext cx="10881000" cy="658080"/>
          </a:xfrm>
          <a:prstGeom prst="roundRect">
            <a:avLst>
              <a:gd name="adj" fmla="val 8333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33"/>
          <p:cNvSpPr/>
          <p:nvPr/>
        </p:nvSpPr>
        <p:spPr>
          <a:xfrm>
            <a:off x="932760" y="5696640"/>
            <a:ext cx="1029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f2a44"/>
                </a:solidFill>
                <a:latin typeface="Cambria"/>
                <a:ea typeface="Cambria"/>
              </a:rPr>
              <a:t>Conclusão sem evidência textual não é publicada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34"/>
          <p:cNvSpPr/>
          <p:nvPr/>
        </p:nvSpPr>
        <p:spPr>
          <a:xfrm>
            <a:off x="932760" y="6035040"/>
            <a:ext cx="10295640" cy="2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O gestor não precisa confiar na máquina: lê o trecho do objeto, lê o trecho da finalidade e avalia por conta própria se a conclusão se sustenta.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35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7.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36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SOLUÇÃO PROPOSTA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Arquitetura, painel e governança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640080" y="14630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148" strike="noStrike">
                <a:solidFill>
                  <a:srgbClr val="5c6e80"/>
                </a:solidFill>
                <a:latin typeface="Calibri"/>
                <a:ea typeface="Calibri"/>
              </a:rPr>
              <a:t>Seis camadas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640080" y="1783080"/>
            <a:ext cx="35658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4"/>
          <p:cNvSpPr/>
          <p:nvPr/>
        </p:nvSpPr>
        <p:spPr>
          <a:xfrm>
            <a:off x="804600" y="1847160"/>
            <a:ext cx="347040" cy="347040"/>
          </a:xfrm>
          <a:prstGeom prst="roundRect">
            <a:avLst>
              <a:gd name="adj" fmla="val 131579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804600" y="18471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6"/>
          <p:cNvSpPr/>
          <p:nvPr/>
        </p:nvSpPr>
        <p:spPr>
          <a:xfrm>
            <a:off x="1280160" y="184716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f2a44"/>
                </a:solidFill>
                <a:latin typeface="Cambria"/>
                <a:ea typeface="Cambria"/>
              </a:rPr>
              <a:t>Ingestão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7"/>
          <p:cNvSpPr/>
          <p:nvPr/>
        </p:nvSpPr>
        <p:spPr>
          <a:xfrm>
            <a:off x="640080" y="2350080"/>
            <a:ext cx="35658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8"/>
          <p:cNvSpPr/>
          <p:nvPr/>
        </p:nvSpPr>
        <p:spPr>
          <a:xfrm>
            <a:off x="804600" y="2414160"/>
            <a:ext cx="347040" cy="347040"/>
          </a:xfrm>
          <a:prstGeom prst="roundRect">
            <a:avLst>
              <a:gd name="adj" fmla="val 131579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9"/>
          <p:cNvSpPr/>
          <p:nvPr/>
        </p:nvSpPr>
        <p:spPr>
          <a:xfrm>
            <a:off x="804600" y="24141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10"/>
          <p:cNvSpPr/>
          <p:nvPr/>
        </p:nvSpPr>
        <p:spPr>
          <a:xfrm>
            <a:off x="1280160" y="241416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f2a44"/>
                </a:solidFill>
                <a:latin typeface="Cambria"/>
                <a:ea typeface="Cambria"/>
              </a:rPr>
              <a:t>Armazenamento bruto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1"/>
          <p:cNvSpPr/>
          <p:nvPr/>
        </p:nvSpPr>
        <p:spPr>
          <a:xfrm>
            <a:off x="640080" y="2917080"/>
            <a:ext cx="35658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2"/>
          <p:cNvSpPr/>
          <p:nvPr/>
        </p:nvSpPr>
        <p:spPr>
          <a:xfrm>
            <a:off x="804600" y="2980800"/>
            <a:ext cx="347040" cy="347040"/>
          </a:xfrm>
          <a:prstGeom prst="roundRect">
            <a:avLst>
              <a:gd name="adj" fmla="val 131579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13"/>
          <p:cNvSpPr/>
          <p:nvPr/>
        </p:nvSpPr>
        <p:spPr>
          <a:xfrm>
            <a:off x="804600" y="2980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14"/>
          <p:cNvSpPr/>
          <p:nvPr/>
        </p:nvSpPr>
        <p:spPr>
          <a:xfrm>
            <a:off x="1280160" y="298080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f2a44"/>
                </a:solidFill>
                <a:latin typeface="Cambria"/>
                <a:ea typeface="Cambria"/>
              </a:rPr>
              <a:t>Tratamento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15"/>
          <p:cNvSpPr/>
          <p:nvPr/>
        </p:nvSpPr>
        <p:spPr>
          <a:xfrm>
            <a:off x="640080" y="3483720"/>
            <a:ext cx="3565800" cy="475200"/>
          </a:xfrm>
          <a:prstGeom prst="roundRect">
            <a:avLst>
              <a:gd name="adj" fmla="val 11538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16"/>
          <p:cNvSpPr/>
          <p:nvPr/>
        </p:nvSpPr>
        <p:spPr>
          <a:xfrm>
            <a:off x="804600" y="3547800"/>
            <a:ext cx="347040" cy="347040"/>
          </a:xfrm>
          <a:prstGeom prst="roundRect">
            <a:avLst>
              <a:gd name="adj" fmla="val 131579"/>
            </a:avLst>
          </a:prstGeom>
          <a:solidFill>
            <a:srgbClr val="0a6159"/>
          </a:solidFill>
          <a:ln w="12700">
            <a:solidFill>
              <a:srgbClr val="0a61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17"/>
          <p:cNvSpPr/>
          <p:nvPr/>
        </p:nvSpPr>
        <p:spPr>
          <a:xfrm>
            <a:off x="804600" y="3547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18"/>
          <p:cNvSpPr/>
          <p:nvPr/>
        </p:nvSpPr>
        <p:spPr>
          <a:xfrm>
            <a:off x="1280160" y="354780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ffffff"/>
                </a:solidFill>
                <a:latin typeface="Cambria"/>
                <a:ea typeface="Cambria"/>
              </a:rPr>
              <a:t>Inteligência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19"/>
          <p:cNvSpPr/>
          <p:nvPr/>
        </p:nvSpPr>
        <p:spPr>
          <a:xfrm>
            <a:off x="640080" y="4050720"/>
            <a:ext cx="35658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0"/>
          <p:cNvSpPr/>
          <p:nvPr/>
        </p:nvSpPr>
        <p:spPr>
          <a:xfrm>
            <a:off x="804600" y="4114800"/>
            <a:ext cx="347040" cy="347040"/>
          </a:xfrm>
          <a:prstGeom prst="roundRect">
            <a:avLst>
              <a:gd name="adj" fmla="val 131579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21"/>
          <p:cNvSpPr/>
          <p:nvPr/>
        </p:nvSpPr>
        <p:spPr>
          <a:xfrm>
            <a:off x="804600" y="4114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22"/>
          <p:cNvSpPr/>
          <p:nvPr/>
        </p:nvSpPr>
        <p:spPr>
          <a:xfrm>
            <a:off x="1280160" y="411480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f2a44"/>
                </a:solidFill>
                <a:latin typeface="Cambria"/>
                <a:ea typeface="Cambria"/>
              </a:rPr>
              <a:t>Consumo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23"/>
          <p:cNvSpPr/>
          <p:nvPr/>
        </p:nvSpPr>
        <p:spPr>
          <a:xfrm>
            <a:off x="640080" y="4617720"/>
            <a:ext cx="356580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24"/>
          <p:cNvSpPr/>
          <p:nvPr/>
        </p:nvSpPr>
        <p:spPr>
          <a:xfrm>
            <a:off x="804600" y="4681800"/>
            <a:ext cx="347040" cy="347040"/>
          </a:xfrm>
          <a:prstGeom prst="roundRect">
            <a:avLst>
              <a:gd name="adj" fmla="val 131579"/>
            </a:avLst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25"/>
          <p:cNvSpPr/>
          <p:nvPr/>
        </p:nvSpPr>
        <p:spPr>
          <a:xfrm>
            <a:off x="804600" y="4681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26"/>
          <p:cNvSpPr/>
          <p:nvPr/>
        </p:nvSpPr>
        <p:spPr>
          <a:xfrm>
            <a:off x="1280160" y="468180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00" spc="-1" strike="noStrike">
                <a:solidFill>
                  <a:srgbClr val="0f2a44"/>
                </a:solidFill>
                <a:latin typeface="Cambria"/>
                <a:ea typeface="Cambria"/>
              </a:rPr>
              <a:t>Apresentação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27"/>
          <p:cNvSpPr/>
          <p:nvPr/>
        </p:nvSpPr>
        <p:spPr>
          <a:xfrm>
            <a:off x="4572000" y="14630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148" strike="noStrike">
                <a:solidFill>
                  <a:srgbClr val="5c6e80"/>
                </a:solidFill>
                <a:latin typeface="Calibri"/>
                <a:ea typeface="Calibri"/>
              </a:rPr>
              <a:t>Seis visões no painel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28"/>
          <p:cNvSpPr/>
          <p:nvPr/>
        </p:nvSpPr>
        <p:spPr>
          <a:xfrm>
            <a:off x="4572000" y="1783080"/>
            <a:ext cx="329148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29"/>
          <p:cNvSpPr/>
          <p:nvPr/>
        </p:nvSpPr>
        <p:spPr>
          <a:xfrm>
            <a:off x="4827960" y="184716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Visão geral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30"/>
          <p:cNvSpPr/>
          <p:nvPr/>
        </p:nvSpPr>
        <p:spPr>
          <a:xfrm>
            <a:off x="4572000" y="2350080"/>
            <a:ext cx="329148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31"/>
          <p:cNvSpPr/>
          <p:nvPr/>
        </p:nvSpPr>
        <p:spPr>
          <a:xfrm>
            <a:off x="4827960" y="241416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Por programa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32"/>
          <p:cNvSpPr/>
          <p:nvPr/>
        </p:nvSpPr>
        <p:spPr>
          <a:xfrm>
            <a:off x="4572000" y="2917080"/>
            <a:ext cx="329148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33"/>
          <p:cNvSpPr/>
          <p:nvPr/>
        </p:nvSpPr>
        <p:spPr>
          <a:xfrm>
            <a:off x="4827960" y="298080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Execução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34"/>
          <p:cNvSpPr/>
          <p:nvPr/>
        </p:nvSpPr>
        <p:spPr>
          <a:xfrm>
            <a:off x="4572000" y="3483720"/>
            <a:ext cx="329148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35"/>
          <p:cNvSpPr/>
          <p:nvPr/>
        </p:nvSpPr>
        <p:spPr>
          <a:xfrm>
            <a:off x="4827960" y="354780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Contratos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36"/>
          <p:cNvSpPr/>
          <p:nvPr/>
        </p:nvSpPr>
        <p:spPr>
          <a:xfrm>
            <a:off x="4572000" y="4050720"/>
            <a:ext cx="329148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37"/>
          <p:cNvSpPr/>
          <p:nvPr/>
        </p:nvSpPr>
        <p:spPr>
          <a:xfrm>
            <a:off x="4827960" y="411480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Alertas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38"/>
          <p:cNvSpPr/>
          <p:nvPr/>
        </p:nvSpPr>
        <p:spPr>
          <a:xfrm>
            <a:off x="4572000" y="4617720"/>
            <a:ext cx="3291480" cy="4752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39"/>
          <p:cNvSpPr/>
          <p:nvPr/>
        </p:nvSpPr>
        <p:spPr>
          <a:xfrm>
            <a:off x="4827960" y="468180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Trilha de auditoria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40"/>
          <p:cNvSpPr/>
          <p:nvPr/>
        </p:nvSpPr>
        <p:spPr>
          <a:xfrm>
            <a:off x="8229600" y="1783080"/>
            <a:ext cx="3291480" cy="3401280"/>
          </a:xfrm>
          <a:prstGeom prst="roundRect">
            <a:avLst>
              <a:gd name="adj" fmla="val 1667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  <a:effectLst>
            <a:outerShdw algn="bl" blurRad="101520" dir="5400000" dist="25560" kx="0" ky="0" rotWithShape="0" sx="100000" sy="100000">
              <a:srgbClr val="9aa9b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41"/>
          <p:cNvSpPr/>
          <p:nvPr/>
        </p:nvSpPr>
        <p:spPr>
          <a:xfrm>
            <a:off x="8503920" y="196596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0f2a44"/>
                </a:solidFill>
                <a:latin typeface="Cambria"/>
                <a:ea typeface="Cambria"/>
              </a:rPr>
              <a:t>Governança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42"/>
          <p:cNvSpPr/>
          <p:nvPr/>
        </p:nvSpPr>
        <p:spPr>
          <a:xfrm>
            <a:off x="8540640" y="249624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43"/>
          <p:cNvSpPr/>
          <p:nvPr/>
        </p:nvSpPr>
        <p:spPr>
          <a:xfrm>
            <a:off x="8814960" y="2377440"/>
            <a:ext cx="252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374b5e"/>
                </a:solidFill>
                <a:latin typeface="Calibri"/>
                <a:ea typeface="Calibri"/>
              </a:rPr>
              <a:t>Acesso por perfil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44"/>
          <p:cNvSpPr/>
          <p:nvPr/>
        </p:nvSpPr>
        <p:spPr>
          <a:xfrm>
            <a:off x="8540640" y="299916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45"/>
          <p:cNvSpPr/>
          <p:nvPr/>
        </p:nvSpPr>
        <p:spPr>
          <a:xfrm>
            <a:off x="8814960" y="2880360"/>
            <a:ext cx="252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374b5e"/>
                </a:solidFill>
                <a:latin typeface="Calibri"/>
                <a:ea typeface="Calibri"/>
              </a:rPr>
              <a:t>Registro imutável de cada análise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46"/>
          <p:cNvSpPr/>
          <p:nvPr/>
        </p:nvSpPr>
        <p:spPr>
          <a:xfrm>
            <a:off x="8540640" y="350208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47"/>
          <p:cNvSpPr/>
          <p:nvPr/>
        </p:nvSpPr>
        <p:spPr>
          <a:xfrm>
            <a:off x="8814960" y="3383280"/>
            <a:ext cx="252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374b5e"/>
                </a:solidFill>
                <a:latin typeface="Calibri"/>
                <a:ea typeface="Calibri"/>
              </a:rPr>
              <a:t>Metodologia publicada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48"/>
          <p:cNvSpPr/>
          <p:nvPr/>
        </p:nvSpPr>
        <p:spPr>
          <a:xfrm>
            <a:off x="8540640" y="400500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49"/>
          <p:cNvSpPr/>
          <p:nvPr/>
        </p:nvSpPr>
        <p:spPr>
          <a:xfrm>
            <a:off x="8814960" y="3886200"/>
            <a:ext cx="252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374b5e"/>
                </a:solidFill>
                <a:latin typeface="Calibri"/>
                <a:ea typeface="Calibri"/>
              </a:rPr>
              <a:t>Revisão por amostragem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50"/>
          <p:cNvSpPr/>
          <p:nvPr/>
        </p:nvSpPr>
        <p:spPr>
          <a:xfrm>
            <a:off x="8540640" y="4507920"/>
            <a:ext cx="109440" cy="109440"/>
          </a:xfrm>
          <a:prstGeom prst="roundRect">
            <a:avLst>
              <a:gd name="adj" fmla="val 416667"/>
            </a:avLst>
          </a:prstGeom>
          <a:solidFill>
            <a:srgbClr val="b9791c"/>
          </a:solidFill>
          <a:ln w="12700">
            <a:solidFill>
              <a:srgbClr val="b979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51"/>
          <p:cNvSpPr/>
          <p:nvPr/>
        </p:nvSpPr>
        <p:spPr>
          <a:xfrm>
            <a:off x="8814960" y="4389120"/>
            <a:ext cx="252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374b5e"/>
                </a:solidFill>
                <a:latin typeface="Calibri"/>
                <a:ea typeface="Calibri"/>
              </a:rPr>
              <a:t>Decisão sempre nominal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52"/>
          <p:cNvSpPr/>
          <p:nvPr/>
        </p:nvSpPr>
        <p:spPr>
          <a:xfrm>
            <a:off x="640080" y="5349240"/>
            <a:ext cx="10881000" cy="822600"/>
          </a:xfrm>
          <a:prstGeom prst="roundRect">
            <a:avLst>
              <a:gd name="adj" fmla="val 6667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53"/>
          <p:cNvSpPr/>
          <p:nvPr/>
        </p:nvSpPr>
        <p:spPr>
          <a:xfrm>
            <a:off x="932760" y="5513760"/>
            <a:ext cx="1029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A chave que amarra tudo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54"/>
          <p:cNvSpPr/>
          <p:nvPr/>
        </p:nvSpPr>
        <p:spPr>
          <a:xfrm>
            <a:off x="932760" y="5879520"/>
            <a:ext cx="102956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374b5e"/>
                </a:solidFill>
                <a:latin typeface="Calibri"/>
                <a:ea typeface="Calibri"/>
              </a:rPr>
              <a:t>Código do programa e da ação, unidade gestora, exercício, número do empenho e número do contrato. Quando a chave falha, o registro vira exceção visível e vai para conciliação assistida — nunca é descartado em silêncio.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55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seções 8 a 10.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56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0e7f76"/>
                </a:solidFill>
                <a:latin typeface="Calibri"/>
                <a:ea typeface="Calibri"/>
              </a:rPr>
              <a:t>RISCOS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0f2a44"/>
                </a:solidFill>
                <a:latin typeface="Cambria"/>
                <a:ea typeface="Cambria"/>
              </a:rPr>
              <a:t>O que pode dar errado e como é tratado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2"/>
          <p:cNvSpPr/>
          <p:nvPr/>
        </p:nvSpPr>
        <p:spPr>
          <a:xfrm>
            <a:off x="640080" y="1600200"/>
            <a:ext cx="3291480" cy="3837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3"/>
          <p:cNvSpPr/>
          <p:nvPr/>
        </p:nvSpPr>
        <p:spPr>
          <a:xfrm>
            <a:off x="749880" y="1600200"/>
            <a:ext cx="3071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Calibri"/>
                <a:ea typeface="Calibri"/>
              </a:rPr>
              <a:t>Risco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4"/>
          <p:cNvSpPr/>
          <p:nvPr/>
        </p:nvSpPr>
        <p:spPr>
          <a:xfrm>
            <a:off x="3931920" y="1600200"/>
            <a:ext cx="2925720" cy="3837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5"/>
          <p:cNvSpPr/>
          <p:nvPr/>
        </p:nvSpPr>
        <p:spPr>
          <a:xfrm>
            <a:off x="4041720" y="1600200"/>
            <a:ext cx="2706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Calibri"/>
                <a:ea typeface="Calibri"/>
              </a:rPr>
              <a:t>Efeito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6"/>
          <p:cNvSpPr/>
          <p:nvPr/>
        </p:nvSpPr>
        <p:spPr>
          <a:xfrm>
            <a:off x="6858000" y="1600200"/>
            <a:ext cx="4663080" cy="38376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7"/>
          <p:cNvSpPr/>
          <p:nvPr/>
        </p:nvSpPr>
        <p:spPr>
          <a:xfrm>
            <a:off x="6967800" y="1600200"/>
            <a:ext cx="4443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-1" strike="noStrike">
                <a:solidFill>
                  <a:srgbClr val="ffffff"/>
                </a:solidFill>
                <a:latin typeface="Calibri"/>
                <a:ea typeface="Calibri"/>
              </a:rPr>
              <a:t>Mitigação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8"/>
          <p:cNvSpPr/>
          <p:nvPr/>
        </p:nvSpPr>
        <p:spPr>
          <a:xfrm>
            <a:off x="640080" y="1984320"/>
            <a:ext cx="3291480" cy="6213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9"/>
          <p:cNvSpPr/>
          <p:nvPr/>
        </p:nvSpPr>
        <p:spPr>
          <a:xfrm>
            <a:off x="749880" y="1984320"/>
            <a:ext cx="3071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Dados de origem incompletos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10"/>
          <p:cNvSpPr/>
          <p:nvPr/>
        </p:nvSpPr>
        <p:spPr>
          <a:xfrm>
            <a:off x="3931920" y="1984320"/>
            <a:ext cx="2925720" cy="6213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11"/>
          <p:cNvSpPr/>
          <p:nvPr/>
        </p:nvSpPr>
        <p:spPr>
          <a:xfrm>
            <a:off x="4041720" y="1984320"/>
            <a:ext cx="2706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Indicadores distorcidos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12"/>
          <p:cNvSpPr/>
          <p:nvPr/>
        </p:nvSpPr>
        <p:spPr>
          <a:xfrm>
            <a:off x="6858000" y="1984320"/>
            <a:ext cx="4663080" cy="6213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13"/>
          <p:cNvSpPr/>
          <p:nvPr/>
        </p:nvSpPr>
        <p:spPr>
          <a:xfrm>
            <a:off x="6967800" y="1984320"/>
            <a:ext cx="44434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0e7f76"/>
                </a:solidFill>
                <a:latin typeface="Calibri"/>
                <a:ea typeface="Calibri"/>
              </a:rPr>
              <a:t>Painel de qualidade e correção na fonte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14"/>
          <p:cNvSpPr/>
          <p:nvPr/>
        </p:nvSpPr>
        <p:spPr>
          <a:xfrm>
            <a:off x="640080" y="2606040"/>
            <a:ext cx="3291480" cy="62136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15"/>
          <p:cNvSpPr/>
          <p:nvPr/>
        </p:nvSpPr>
        <p:spPr>
          <a:xfrm>
            <a:off x="749880" y="2606040"/>
            <a:ext cx="3071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Ação sem meta física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16"/>
          <p:cNvSpPr/>
          <p:nvPr/>
        </p:nvSpPr>
        <p:spPr>
          <a:xfrm>
            <a:off x="3931920" y="2606040"/>
            <a:ext cx="2925720" cy="62136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17"/>
          <p:cNvSpPr/>
          <p:nvPr/>
        </p:nvSpPr>
        <p:spPr>
          <a:xfrm>
            <a:off x="4041720" y="2606040"/>
            <a:ext cx="2706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Custo unitário impossível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18"/>
          <p:cNvSpPr/>
          <p:nvPr/>
        </p:nvSpPr>
        <p:spPr>
          <a:xfrm>
            <a:off x="6858000" y="2606040"/>
            <a:ext cx="4663080" cy="62136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19"/>
          <p:cNvSpPr/>
          <p:nvPr/>
        </p:nvSpPr>
        <p:spPr>
          <a:xfrm>
            <a:off x="6967800" y="2606040"/>
            <a:ext cx="44434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0e7f76"/>
                </a:solidFill>
                <a:latin typeface="Calibri"/>
                <a:ea typeface="Calibri"/>
              </a:rPr>
              <a:t>Lacuna sinalizada, sem estimativa artificial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20"/>
          <p:cNvSpPr/>
          <p:nvPr/>
        </p:nvSpPr>
        <p:spPr>
          <a:xfrm>
            <a:off x="640080" y="3227760"/>
            <a:ext cx="3291480" cy="6213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21"/>
          <p:cNvSpPr/>
          <p:nvPr/>
        </p:nvSpPr>
        <p:spPr>
          <a:xfrm>
            <a:off x="749880" y="3227760"/>
            <a:ext cx="3071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Classificação incorreta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22"/>
          <p:cNvSpPr/>
          <p:nvPr/>
        </p:nvSpPr>
        <p:spPr>
          <a:xfrm>
            <a:off x="3931920" y="3227760"/>
            <a:ext cx="2925720" cy="6213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23"/>
          <p:cNvSpPr/>
          <p:nvPr/>
        </p:nvSpPr>
        <p:spPr>
          <a:xfrm>
            <a:off x="4041720" y="3227760"/>
            <a:ext cx="2706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Desgaste institucional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24"/>
          <p:cNvSpPr/>
          <p:nvPr/>
        </p:nvSpPr>
        <p:spPr>
          <a:xfrm>
            <a:off x="6858000" y="3227760"/>
            <a:ext cx="4663080" cy="6213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25"/>
          <p:cNvSpPr/>
          <p:nvPr/>
        </p:nvSpPr>
        <p:spPr>
          <a:xfrm>
            <a:off x="6967800" y="3227760"/>
            <a:ext cx="44434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0e7f76"/>
                </a:solidFill>
                <a:latin typeface="Calibri"/>
                <a:ea typeface="Calibri"/>
              </a:rPr>
              <a:t>Nível de confiança, revisão obrigatória e amostragem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26"/>
          <p:cNvSpPr/>
          <p:nvPr/>
        </p:nvSpPr>
        <p:spPr>
          <a:xfrm>
            <a:off x="640080" y="3849480"/>
            <a:ext cx="3291480" cy="62136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27"/>
          <p:cNvSpPr/>
          <p:nvPr/>
        </p:nvSpPr>
        <p:spPr>
          <a:xfrm>
            <a:off x="749880" y="3849480"/>
            <a:ext cx="3071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Excesso de confiança no automático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28"/>
          <p:cNvSpPr/>
          <p:nvPr/>
        </p:nvSpPr>
        <p:spPr>
          <a:xfrm>
            <a:off x="3931920" y="3849480"/>
            <a:ext cx="2925720" cy="62136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29"/>
          <p:cNvSpPr/>
          <p:nvPr/>
        </p:nvSpPr>
        <p:spPr>
          <a:xfrm>
            <a:off x="4041720" y="3849480"/>
            <a:ext cx="2706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Decisão mal fundamentada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30"/>
          <p:cNvSpPr/>
          <p:nvPr/>
        </p:nvSpPr>
        <p:spPr>
          <a:xfrm>
            <a:off x="6858000" y="3849480"/>
            <a:ext cx="4663080" cy="621360"/>
          </a:xfrm>
          <a:prstGeom prst="rect">
            <a:avLst/>
          </a:prstGeom>
          <a:solidFill>
            <a:srgbClr val="f4f7fa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31"/>
          <p:cNvSpPr/>
          <p:nvPr/>
        </p:nvSpPr>
        <p:spPr>
          <a:xfrm>
            <a:off x="6967800" y="3849480"/>
            <a:ext cx="44434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0e7f76"/>
                </a:solidFill>
                <a:latin typeface="Calibri"/>
                <a:ea typeface="Calibri"/>
              </a:rPr>
              <a:t>Justificativa visível e decisão em nome de pessoa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32"/>
          <p:cNvSpPr/>
          <p:nvPr/>
        </p:nvSpPr>
        <p:spPr>
          <a:xfrm>
            <a:off x="640080" y="4471560"/>
            <a:ext cx="3291480" cy="6213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33"/>
          <p:cNvSpPr/>
          <p:nvPr/>
        </p:nvSpPr>
        <p:spPr>
          <a:xfrm>
            <a:off x="749880" y="4471560"/>
            <a:ext cx="3071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Programa da LOA fora do PPA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34"/>
          <p:cNvSpPr/>
          <p:nvPr/>
        </p:nvSpPr>
        <p:spPr>
          <a:xfrm>
            <a:off x="3931920" y="4471560"/>
            <a:ext cx="2925720" cy="6213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35"/>
          <p:cNvSpPr/>
          <p:nvPr/>
        </p:nvSpPr>
        <p:spPr>
          <a:xfrm>
            <a:off x="4041720" y="4471560"/>
            <a:ext cx="2706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Execução à margem do plano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36"/>
          <p:cNvSpPr/>
          <p:nvPr/>
        </p:nvSpPr>
        <p:spPr>
          <a:xfrm>
            <a:off x="6858000" y="4471560"/>
            <a:ext cx="4663080" cy="6213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37"/>
          <p:cNvSpPr/>
          <p:nvPr/>
        </p:nvSpPr>
        <p:spPr>
          <a:xfrm>
            <a:off x="6967800" y="4471560"/>
            <a:ext cx="44434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0e7f76"/>
                </a:solidFill>
                <a:latin typeface="Calibri"/>
                <a:ea typeface="Calibri"/>
              </a:rPr>
              <a:t>Conciliação por código, com exceção registrada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38"/>
          <p:cNvSpPr/>
          <p:nvPr/>
        </p:nvSpPr>
        <p:spPr>
          <a:xfrm>
            <a:off x="640080" y="5029200"/>
            <a:ext cx="10881000" cy="914040"/>
          </a:xfrm>
          <a:prstGeom prst="roundRect">
            <a:avLst>
              <a:gd name="adj" fmla="val 6000"/>
            </a:avLst>
          </a:prstGeom>
          <a:solidFill>
            <a:srgbClr val="edf2f7"/>
          </a:solidFill>
          <a:ln w="12700">
            <a:solidFill>
              <a:srgbClr val="c7d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39"/>
          <p:cNvSpPr/>
          <p:nvPr/>
        </p:nvSpPr>
        <p:spPr>
          <a:xfrm>
            <a:off x="932760" y="5193720"/>
            <a:ext cx="1029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0f2a44"/>
                </a:solidFill>
                <a:latin typeface="Cambria"/>
                <a:ea typeface="Cambria"/>
              </a:rPr>
              <a:t>A qualidade do plano limita a análise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40"/>
          <p:cNvSpPr/>
          <p:nvPr/>
        </p:nvSpPr>
        <p:spPr>
          <a:xfrm>
            <a:off x="932760" y="5559480"/>
            <a:ext cx="1029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374b5e"/>
                </a:solidFill>
                <a:latin typeface="Calibri"/>
                <a:ea typeface="Calibri"/>
              </a:rPr>
              <a:t>Meta sem unidade de medida, programa sem público-alvo e objeto contratual genérico reduzem o que é possível medir. O painel não preenche o que a base não tem: exibe a lacuna, e a lacuna vira pauta.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41"/>
          <p:cNvSpPr/>
          <p:nvPr/>
        </p:nvSpPr>
        <p:spPr>
          <a:xfrm>
            <a:off x="640080" y="6254640"/>
            <a:ext cx="1088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5c6e80"/>
                </a:solidFill>
                <a:latin typeface="Calibri"/>
                <a:ea typeface="Calibri"/>
              </a:rPr>
              <a:t>Documento, seção 11.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42"/>
          <p:cNvSpPr/>
          <p:nvPr/>
        </p:nvSpPr>
        <p:spPr>
          <a:xfrm>
            <a:off x="11247120" y="6355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00" spc="-1" strike="noStrike">
                <a:solidFill>
                  <a:srgbClr val="a8b4c2"/>
                </a:solidFill>
                <a:latin typeface="Calibri"/>
                <a:ea typeface="Calibri"/>
              </a:rPr>
              <a:t>10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 0"/>
          <p:cNvSpPr/>
          <p:nvPr/>
        </p:nvSpPr>
        <p:spPr>
          <a:xfrm>
            <a:off x="640080" y="365760"/>
            <a:ext cx="10881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199" strike="noStrike">
                <a:solidFill>
                  <a:srgbClr val="7fb6ae"/>
                </a:solidFill>
                <a:latin typeface="Calibri"/>
                <a:ea typeface="Calibri"/>
              </a:rPr>
              <a:t>COMO COMEÇA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1"/>
          <p:cNvSpPr/>
          <p:nvPr/>
        </p:nvSpPr>
        <p:spPr>
          <a:xfrm>
            <a:off x="640080" y="640080"/>
            <a:ext cx="108810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000" spc="-1" strike="noStrike">
                <a:solidFill>
                  <a:srgbClr val="ffffff"/>
                </a:solidFill>
                <a:latin typeface="Cambria"/>
                <a:ea typeface="Cambria"/>
              </a:rPr>
              <a:t>Implantação e decisões necessárias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2"/>
          <p:cNvSpPr/>
          <p:nvPr/>
        </p:nvSpPr>
        <p:spPr>
          <a:xfrm>
            <a:off x="640080" y="14630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148" strike="noStrike">
                <a:solidFill>
                  <a:srgbClr val="7fb6ae"/>
                </a:solidFill>
                <a:latin typeface="Calibri"/>
                <a:ea typeface="Calibri"/>
              </a:rPr>
              <a:t>SEIS ETAPAS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Shape 3"/>
          <p:cNvSpPr/>
          <p:nvPr/>
        </p:nvSpPr>
        <p:spPr>
          <a:xfrm>
            <a:off x="640080" y="1783080"/>
            <a:ext cx="4937400" cy="475200"/>
          </a:xfrm>
          <a:prstGeom prst="roundRect">
            <a:avLst>
              <a:gd name="adj" fmla="val 9615"/>
            </a:avLst>
          </a:prstGeom>
          <a:solidFill>
            <a:srgbClr val="17385a"/>
          </a:solidFill>
          <a:ln w="12700">
            <a:solidFill>
              <a:srgbClr val="2c54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Shape 4"/>
          <p:cNvSpPr/>
          <p:nvPr/>
        </p:nvSpPr>
        <p:spPr>
          <a:xfrm>
            <a:off x="804600" y="1847160"/>
            <a:ext cx="347040" cy="347040"/>
          </a:xfrm>
          <a:prstGeom prst="roundRect">
            <a:avLst>
              <a:gd name="adj" fmla="val 131579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5"/>
          <p:cNvSpPr/>
          <p:nvPr/>
        </p:nvSpPr>
        <p:spPr>
          <a:xfrm>
            <a:off x="804600" y="18471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 6"/>
          <p:cNvSpPr/>
          <p:nvPr/>
        </p:nvSpPr>
        <p:spPr>
          <a:xfrm>
            <a:off x="1280160" y="184716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dce6f0"/>
                </a:solidFill>
                <a:latin typeface="Calibri"/>
                <a:ea typeface="Calibri"/>
              </a:rPr>
              <a:t>Diagnóstico das fontes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7"/>
          <p:cNvSpPr/>
          <p:nvPr/>
        </p:nvSpPr>
        <p:spPr>
          <a:xfrm>
            <a:off x="4114800" y="184716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50" spc="-1" strike="noStrike">
                <a:solidFill>
                  <a:srgbClr val="6fd0c4"/>
                </a:solidFill>
                <a:latin typeface="Calibri"/>
                <a:ea typeface="Calibri"/>
              </a:rPr>
              <a:t>2 a 3 sem.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Shape 8"/>
          <p:cNvSpPr/>
          <p:nvPr/>
        </p:nvSpPr>
        <p:spPr>
          <a:xfrm>
            <a:off x="640080" y="2350080"/>
            <a:ext cx="4937400" cy="475200"/>
          </a:xfrm>
          <a:prstGeom prst="roundRect">
            <a:avLst>
              <a:gd name="adj" fmla="val 9615"/>
            </a:avLst>
          </a:prstGeom>
          <a:solidFill>
            <a:srgbClr val="17385a"/>
          </a:solidFill>
          <a:ln w="12700">
            <a:solidFill>
              <a:srgbClr val="2c54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Shape 9"/>
          <p:cNvSpPr/>
          <p:nvPr/>
        </p:nvSpPr>
        <p:spPr>
          <a:xfrm>
            <a:off x="804600" y="2414160"/>
            <a:ext cx="347040" cy="347040"/>
          </a:xfrm>
          <a:prstGeom prst="roundRect">
            <a:avLst>
              <a:gd name="adj" fmla="val 131579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10"/>
          <p:cNvSpPr/>
          <p:nvPr/>
        </p:nvSpPr>
        <p:spPr>
          <a:xfrm>
            <a:off x="804600" y="24141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11"/>
          <p:cNvSpPr/>
          <p:nvPr/>
        </p:nvSpPr>
        <p:spPr>
          <a:xfrm>
            <a:off x="1280160" y="241416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dce6f0"/>
                </a:solidFill>
                <a:latin typeface="Calibri"/>
                <a:ea typeface="Calibri"/>
              </a:rPr>
              <a:t>Fases 1 e 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12"/>
          <p:cNvSpPr/>
          <p:nvPr/>
        </p:nvSpPr>
        <p:spPr>
          <a:xfrm>
            <a:off x="4114800" y="241416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50" spc="-1" strike="noStrike">
                <a:solidFill>
                  <a:srgbClr val="6fd0c4"/>
                </a:solidFill>
                <a:latin typeface="Calibri"/>
                <a:ea typeface="Calibri"/>
              </a:rPr>
              <a:t>4 a 6 sem.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Shape 13"/>
          <p:cNvSpPr/>
          <p:nvPr/>
        </p:nvSpPr>
        <p:spPr>
          <a:xfrm>
            <a:off x="640080" y="2917080"/>
            <a:ext cx="4937400" cy="475200"/>
          </a:xfrm>
          <a:prstGeom prst="roundRect">
            <a:avLst>
              <a:gd name="adj" fmla="val 9615"/>
            </a:avLst>
          </a:prstGeom>
          <a:solidFill>
            <a:srgbClr val="17385a"/>
          </a:solidFill>
          <a:ln w="12700">
            <a:solidFill>
              <a:srgbClr val="2c54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Shape 14"/>
          <p:cNvSpPr/>
          <p:nvPr/>
        </p:nvSpPr>
        <p:spPr>
          <a:xfrm>
            <a:off x="804600" y="2980800"/>
            <a:ext cx="347040" cy="347040"/>
          </a:xfrm>
          <a:prstGeom prst="roundRect">
            <a:avLst>
              <a:gd name="adj" fmla="val 131579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15"/>
          <p:cNvSpPr/>
          <p:nvPr/>
        </p:nvSpPr>
        <p:spPr>
          <a:xfrm>
            <a:off x="804600" y="2980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16"/>
          <p:cNvSpPr/>
          <p:nvPr/>
        </p:nvSpPr>
        <p:spPr>
          <a:xfrm>
            <a:off x="1280160" y="298080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dce6f0"/>
                </a:solidFill>
                <a:latin typeface="Calibri"/>
                <a:ea typeface="Calibri"/>
              </a:rPr>
              <a:t>Fase 3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17"/>
          <p:cNvSpPr/>
          <p:nvPr/>
        </p:nvSpPr>
        <p:spPr>
          <a:xfrm>
            <a:off x="4114800" y="298080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50" spc="-1" strike="noStrike">
                <a:solidFill>
                  <a:srgbClr val="6fd0c4"/>
                </a:solidFill>
                <a:latin typeface="Calibri"/>
                <a:ea typeface="Calibri"/>
              </a:rPr>
              <a:t>4 sem.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Shape 18"/>
          <p:cNvSpPr/>
          <p:nvPr/>
        </p:nvSpPr>
        <p:spPr>
          <a:xfrm>
            <a:off x="640080" y="3483720"/>
            <a:ext cx="4937400" cy="475200"/>
          </a:xfrm>
          <a:prstGeom prst="roundRect">
            <a:avLst>
              <a:gd name="adj" fmla="val 9615"/>
            </a:avLst>
          </a:prstGeom>
          <a:solidFill>
            <a:srgbClr val="17385a"/>
          </a:solidFill>
          <a:ln w="12700">
            <a:solidFill>
              <a:srgbClr val="2c54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Shape 19"/>
          <p:cNvSpPr/>
          <p:nvPr/>
        </p:nvSpPr>
        <p:spPr>
          <a:xfrm>
            <a:off x="804600" y="3547800"/>
            <a:ext cx="347040" cy="347040"/>
          </a:xfrm>
          <a:prstGeom prst="roundRect">
            <a:avLst>
              <a:gd name="adj" fmla="val 131579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20"/>
          <p:cNvSpPr/>
          <p:nvPr/>
        </p:nvSpPr>
        <p:spPr>
          <a:xfrm>
            <a:off x="804600" y="3547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21"/>
          <p:cNvSpPr/>
          <p:nvPr/>
        </p:nvSpPr>
        <p:spPr>
          <a:xfrm>
            <a:off x="1280160" y="354780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dce6f0"/>
                </a:solidFill>
                <a:latin typeface="Calibri"/>
                <a:ea typeface="Calibri"/>
              </a:rPr>
              <a:t>Fase 4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22"/>
          <p:cNvSpPr/>
          <p:nvPr/>
        </p:nvSpPr>
        <p:spPr>
          <a:xfrm>
            <a:off x="4114800" y="354780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50" spc="-1" strike="noStrike">
                <a:solidFill>
                  <a:srgbClr val="6fd0c4"/>
                </a:solidFill>
                <a:latin typeface="Calibri"/>
                <a:ea typeface="Calibri"/>
              </a:rPr>
              <a:t>4 a 6 sem.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Shape 23"/>
          <p:cNvSpPr/>
          <p:nvPr/>
        </p:nvSpPr>
        <p:spPr>
          <a:xfrm>
            <a:off x="640080" y="4050720"/>
            <a:ext cx="4937400" cy="475200"/>
          </a:xfrm>
          <a:prstGeom prst="roundRect">
            <a:avLst>
              <a:gd name="adj" fmla="val 9615"/>
            </a:avLst>
          </a:prstGeom>
          <a:solidFill>
            <a:srgbClr val="17385a"/>
          </a:solidFill>
          <a:ln w="12700">
            <a:solidFill>
              <a:srgbClr val="2c54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Shape 24"/>
          <p:cNvSpPr/>
          <p:nvPr/>
        </p:nvSpPr>
        <p:spPr>
          <a:xfrm>
            <a:off x="804600" y="4114800"/>
            <a:ext cx="347040" cy="347040"/>
          </a:xfrm>
          <a:prstGeom prst="roundRect">
            <a:avLst>
              <a:gd name="adj" fmla="val 131579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25"/>
          <p:cNvSpPr/>
          <p:nvPr/>
        </p:nvSpPr>
        <p:spPr>
          <a:xfrm>
            <a:off x="804600" y="4114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26"/>
          <p:cNvSpPr/>
          <p:nvPr/>
        </p:nvSpPr>
        <p:spPr>
          <a:xfrm>
            <a:off x="1280160" y="411480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dce6f0"/>
                </a:solidFill>
                <a:latin typeface="Calibri"/>
                <a:ea typeface="Calibri"/>
              </a:rPr>
              <a:t>Painel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27"/>
          <p:cNvSpPr/>
          <p:nvPr/>
        </p:nvSpPr>
        <p:spPr>
          <a:xfrm>
            <a:off x="4114800" y="411480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50" spc="-1" strike="noStrike">
                <a:solidFill>
                  <a:srgbClr val="6fd0c4"/>
                </a:solidFill>
                <a:latin typeface="Calibri"/>
                <a:ea typeface="Calibri"/>
              </a:rPr>
              <a:t>3 a 4 sem.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Shape 28"/>
          <p:cNvSpPr/>
          <p:nvPr/>
        </p:nvSpPr>
        <p:spPr>
          <a:xfrm>
            <a:off x="640080" y="4617720"/>
            <a:ext cx="4937400" cy="475200"/>
          </a:xfrm>
          <a:prstGeom prst="roundRect">
            <a:avLst>
              <a:gd name="adj" fmla="val 9615"/>
            </a:avLst>
          </a:prstGeom>
          <a:solidFill>
            <a:srgbClr val="17385a"/>
          </a:solidFill>
          <a:ln w="12700">
            <a:solidFill>
              <a:srgbClr val="2c54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Shape 29"/>
          <p:cNvSpPr/>
          <p:nvPr/>
        </p:nvSpPr>
        <p:spPr>
          <a:xfrm>
            <a:off x="804600" y="4681800"/>
            <a:ext cx="347040" cy="347040"/>
          </a:xfrm>
          <a:prstGeom prst="roundRect">
            <a:avLst>
              <a:gd name="adj" fmla="val 131579"/>
            </a:avLst>
          </a:prstGeom>
          <a:solidFill>
            <a:srgbClr val="0e7f76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30"/>
          <p:cNvSpPr/>
          <p:nvPr/>
        </p:nvSpPr>
        <p:spPr>
          <a:xfrm>
            <a:off x="804600" y="4681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31"/>
          <p:cNvSpPr/>
          <p:nvPr/>
        </p:nvSpPr>
        <p:spPr>
          <a:xfrm>
            <a:off x="1280160" y="468180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dce6f0"/>
                </a:solidFill>
                <a:latin typeface="Calibri"/>
                <a:ea typeface="Calibri"/>
              </a:rPr>
              <a:t>Piloto assistido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 32"/>
          <p:cNvSpPr/>
          <p:nvPr/>
        </p:nvSpPr>
        <p:spPr>
          <a:xfrm>
            <a:off x="4114800" y="468180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50" spc="-1" strike="noStrike">
                <a:solidFill>
                  <a:srgbClr val="6fd0c4"/>
                </a:solidFill>
                <a:latin typeface="Calibri"/>
                <a:ea typeface="Calibri"/>
              </a:rPr>
              <a:t>4 sem.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33"/>
          <p:cNvSpPr/>
          <p:nvPr/>
        </p:nvSpPr>
        <p:spPr>
          <a:xfrm>
            <a:off x="6035040" y="14630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50" spc="148" strike="noStrike">
                <a:solidFill>
                  <a:srgbClr val="7fb6ae"/>
                </a:solidFill>
                <a:latin typeface="Calibri"/>
                <a:ea typeface="Calibri"/>
              </a:rPr>
              <a:t>CINCO DECISÕES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Shape 34"/>
          <p:cNvSpPr/>
          <p:nvPr/>
        </p:nvSpPr>
        <p:spPr>
          <a:xfrm>
            <a:off x="6035040" y="1783080"/>
            <a:ext cx="5486040" cy="585000"/>
          </a:xfrm>
          <a:prstGeom prst="roundRect">
            <a:avLst>
              <a:gd name="adj" fmla="val 7813"/>
            </a:avLst>
          </a:prstGeom>
          <a:solidFill>
            <a:srgbClr val="17385a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35"/>
          <p:cNvSpPr/>
          <p:nvPr/>
        </p:nvSpPr>
        <p:spPr>
          <a:xfrm>
            <a:off x="6309360" y="1856160"/>
            <a:ext cx="5028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dce6f0"/>
                </a:solidFill>
                <a:latin typeface="Calibri"/>
                <a:ea typeface="Calibri"/>
              </a:rPr>
              <a:t>Validar o escopo das quatro fases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Shape 36"/>
          <p:cNvSpPr/>
          <p:nvPr/>
        </p:nvSpPr>
        <p:spPr>
          <a:xfrm>
            <a:off x="6035040" y="2459880"/>
            <a:ext cx="5486040" cy="585000"/>
          </a:xfrm>
          <a:prstGeom prst="roundRect">
            <a:avLst>
              <a:gd name="adj" fmla="val 7813"/>
            </a:avLst>
          </a:prstGeom>
          <a:solidFill>
            <a:srgbClr val="17385a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37"/>
          <p:cNvSpPr/>
          <p:nvPr/>
        </p:nvSpPr>
        <p:spPr>
          <a:xfrm>
            <a:off x="6309360" y="2532960"/>
            <a:ext cx="5028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dce6f0"/>
                </a:solidFill>
                <a:latin typeface="Calibri"/>
                <a:ea typeface="Calibri"/>
              </a:rPr>
              <a:t>Escolher os programas do piloto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Shape 38"/>
          <p:cNvSpPr/>
          <p:nvPr/>
        </p:nvSpPr>
        <p:spPr>
          <a:xfrm>
            <a:off x="6035040" y="3136320"/>
            <a:ext cx="5486040" cy="585000"/>
          </a:xfrm>
          <a:prstGeom prst="roundRect">
            <a:avLst>
              <a:gd name="adj" fmla="val 7813"/>
            </a:avLst>
          </a:prstGeom>
          <a:solidFill>
            <a:srgbClr val="17385a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 39"/>
          <p:cNvSpPr/>
          <p:nvPr/>
        </p:nvSpPr>
        <p:spPr>
          <a:xfrm>
            <a:off x="6309360" y="3209400"/>
            <a:ext cx="5028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dce6f0"/>
                </a:solidFill>
                <a:latin typeface="Calibri"/>
                <a:ea typeface="Calibri"/>
              </a:rPr>
              <a:t>Definir o acesso a cada base de origem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Shape 40"/>
          <p:cNvSpPr/>
          <p:nvPr/>
        </p:nvSpPr>
        <p:spPr>
          <a:xfrm>
            <a:off x="6035040" y="3813120"/>
            <a:ext cx="5486040" cy="585000"/>
          </a:xfrm>
          <a:prstGeom prst="roundRect">
            <a:avLst>
              <a:gd name="adj" fmla="val 7813"/>
            </a:avLst>
          </a:prstGeom>
          <a:solidFill>
            <a:srgbClr val="17385a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 41"/>
          <p:cNvSpPr/>
          <p:nvPr/>
        </p:nvSpPr>
        <p:spPr>
          <a:xfrm>
            <a:off x="6309360" y="3886200"/>
            <a:ext cx="5028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dce6f0"/>
                </a:solidFill>
                <a:latin typeface="Calibri"/>
                <a:ea typeface="Calibri"/>
              </a:rPr>
              <a:t>Fixar o valor de corte para revisão humana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Shape 42"/>
          <p:cNvSpPr/>
          <p:nvPr/>
        </p:nvSpPr>
        <p:spPr>
          <a:xfrm>
            <a:off x="6035040" y="4489560"/>
            <a:ext cx="5486040" cy="585000"/>
          </a:xfrm>
          <a:prstGeom prst="roundRect">
            <a:avLst>
              <a:gd name="adj" fmla="val 7813"/>
            </a:avLst>
          </a:prstGeom>
          <a:solidFill>
            <a:srgbClr val="17385a"/>
          </a:solidFill>
          <a:ln w="12700">
            <a:solidFill>
              <a:srgbClr val="0e7f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43"/>
          <p:cNvSpPr/>
          <p:nvPr/>
        </p:nvSpPr>
        <p:spPr>
          <a:xfrm>
            <a:off x="6309360" y="4563000"/>
            <a:ext cx="5028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dce6f0"/>
                </a:solidFill>
                <a:latin typeface="Calibri"/>
                <a:ea typeface="Calibri"/>
              </a:rPr>
              <a:t>Designar quem valida os resultados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Text 44"/>
          <p:cNvSpPr/>
          <p:nvPr/>
        </p:nvSpPr>
        <p:spPr>
          <a:xfrm>
            <a:off x="640080" y="55321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ffffff"/>
                </a:solidFill>
                <a:latin typeface="Cambria"/>
                <a:ea typeface="Cambria"/>
              </a:rPr>
              <a:t>Perguntas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 45"/>
          <p:cNvSpPr/>
          <p:nvPr/>
        </p:nvSpPr>
        <p:spPr>
          <a:xfrm>
            <a:off x="6035040" y="56235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1100" spc="-1" strike="noStrike">
                <a:solidFill>
                  <a:srgbClr val="8fa8bf"/>
                </a:solidFill>
                <a:latin typeface="Calibri"/>
                <a:ea typeface="Calibri"/>
              </a:rPr>
              <a:t>Durações estimadas, dependentes do acesso às bases. Documento, seções 12 e 13.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2026-08-20T14:57:34Z</dcterms:created>
  <dc:creator>Equipe de Projeto</dc:creator>
  <dc:description/>
  <dc:language>en-US</dc:language>
  <cp:lastModifiedBy>Equipe de Projeto</cp:lastModifiedBy>
  <dcterms:modified xsi:type="dcterms:W3CDTF">2026-08-20T14:57:34Z</dcterms:modified>
  <cp:revision>1</cp:revision>
  <dc:subject>PptxGenJS Presentation</dc:subject>
  <dc:title>Painel de Custos e Aderência — versão resumida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11</vt:r8>
  </property>
  <property fmtid="{D5CDD505-2E9C-101B-9397-08002B2CF9AE}" pid="3" name="PresentationFormat">
    <vt:lpwstr>On-screen Show (16:9)</vt:lpwstr>
  </property>
  <property fmtid="{D5CDD505-2E9C-101B-9397-08002B2CF9AE}" pid="4" name="Slides">
    <vt:r8>11</vt:r8>
  </property>
</Properties>
</file>